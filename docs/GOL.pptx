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8" r:id="rId3"/>
    <p:sldId id="264" r:id="rId4"/>
    <p:sldId id="265" r:id="rId5"/>
    <p:sldId id="266" r:id="rId6"/>
    <p:sldId id="268" r:id="rId7"/>
    <p:sldId id="263" r:id="rId8"/>
    <p:sldId id="267" r:id="rId9"/>
    <p:sldId id="260" r:id="rId10"/>
    <p:sldId id="259" r:id="rId11"/>
    <p:sldId id="256" r:id="rId12"/>
    <p:sldId id="282" r:id="rId13"/>
    <p:sldId id="257" r:id="rId14"/>
    <p:sldId id="276" r:id="rId15"/>
    <p:sldId id="275" r:id="rId16"/>
    <p:sldId id="277" r:id="rId17"/>
    <p:sldId id="278" r:id="rId18"/>
    <p:sldId id="279" r:id="rId19"/>
    <p:sldId id="269" r:id="rId20"/>
    <p:sldId id="280" r:id="rId21"/>
    <p:sldId id="262" r:id="rId22"/>
    <p:sldId id="271" r:id="rId23"/>
    <p:sldId id="272" r:id="rId24"/>
    <p:sldId id="273" r:id="rId25"/>
    <p:sldId id="2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FD36-1213-3EDA-5A60-9EED0F714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0DD2E-FA57-BFF8-22FA-E5C6E9C05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42DA8-76FC-1ED2-A6E0-841CB0E6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53351-BAAB-1D79-7450-1D789834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E4A6D-8FB2-9510-CC4C-4701027E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1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9738-0033-14E1-3F44-3C308311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58A7A-9D91-9C3A-AED7-24B6C8B81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D126A-2F18-78F0-AD86-A8ECD080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C2F8-7BDB-BA4C-21EE-FD39861A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E499-10A7-11B9-D097-23CD43B7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2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6674-1AC8-AD08-AF2B-BB308882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FC930-2D13-88D8-9985-9FF9CE199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08C7-6706-BB33-6AC1-075B34CA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D295-4E9F-FBF3-1BA7-D81B2C6E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7F961-2F09-F948-EC25-F7326090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1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70CE-F8E4-456F-B2E2-895E8B19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8DF2C-6088-F559-8E84-5ADE5D738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ECBA-3E6D-49D2-799D-B9C5D7CAC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60AB2-0F58-4AFD-BB3C-7EFF5429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4EEFE-F879-7DED-C5BF-31E84061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5A63F-1C59-76D9-373F-8CD25AF6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6D52-2411-E9D5-74BB-4CC105A5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8D409-9D4F-23D6-3845-AC1A76AFF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C9545-69CF-3886-0BF4-04846C49E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57046-11B6-4F1C-674F-0934BFB16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A8618-FED1-9A19-65C8-7207BBFBE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F9B904-997F-78E0-7145-96E6717C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33CDC-76CC-67E6-32C3-3B2DD50F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D212A0-A3A2-0471-6D80-D14089AB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5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975B-57DA-79A7-53AD-8479C672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8DE31-D330-6584-03B3-1EE9B560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49F0C-1F80-BD45-100A-6A2AF7BB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52CA0-1C04-3135-7449-DCC26DED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8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8B09C-62B1-FFA4-1B91-103CD50A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C58F8-C132-7780-D935-D27A64DB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11F47-5EF1-2D11-38A5-8445B364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2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24B1-B554-9070-F5E6-B250F137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E398-0F99-5E3E-D613-C87E15081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6E5BA-9E99-7094-0B5D-7EF850C1F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1CCED-6EE4-EA57-794D-379428FC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7D56F-A286-723D-D4B0-BDA33CA3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2C8C2-4278-1F38-3878-B4DEDB1E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63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D971-259F-17A4-5057-8020F8A9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8789B-6E82-62AC-92BE-352C6C76E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21797-1BB4-1435-EC38-B896F7F9A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73571-AABD-81AB-D622-F6783533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90C1A-BE6C-23C5-617D-34795E0C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53E34-BB55-E226-7F65-FEC5A986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9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FF02-A848-04D3-5AE7-0C7B07B8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A7147-0406-28ED-586C-A2DFDA1EC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CCA85-72CD-1237-A219-5FB805FC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2E8BA-90C7-999A-D431-B1E026FA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A5C56-9F39-9720-98DE-03060822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1F678-1220-F4D1-9F40-7342DE3B4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FA1AF-5614-D009-5BA1-CD1710062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CE265-783F-021D-812C-81434FA8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0A1E8-A10C-17E8-A6B2-37AE33E8B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75B73-ECEB-7BBB-851E-9ED3CBA3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1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2085A1-22C2-CB50-753D-3916F03E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6CCC5-49DF-9F39-82FB-E0EED673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715FD-B9D8-186E-EDC4-065167D50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CB541-DADA-4E90-9204-F606EB191F5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7B4F1-0394-7AB0-0A67-A487EE636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BD3E8-100B-00AC-11C1-0D5777678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83A6F-9C35-40E8-B1E5-FAB438226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4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44DE-9CC9-432A-5B6A-F0107ED05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CSA VIVA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9F000-1793-5750-0F44-AD2BF2676D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Jingxiang</a:t>
            </a:r>
            <a:r>
              <a:rPr lang="en-US" dirty="0"/>
              <a:t> Zhang           Lingyi Lu</a:t>
            </a:r>
          </a:p>
        </p:txBody>
      </p:sp>
    </p:spTree>
    <p:extLst>
      <p:ext uri="{BB962C8B-B14F-4D97-AF65-F5344CB8AC3E}">
        <p14:creationId xmlns:p14="http://schemas.microsoft.com/office/powerpoint/2010/main" val="122394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8888-B798-087D-35FA-3B3BCC084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60924" y="-338053"/>
            <a:ext cx="7671758" cy="999226"/>
          </a:xfrm>
        </p:spPr>
        <p:txBody>
          <a:bodyPr>
            <a:normAutofit/>
          </a:bodyPr>
          <a:lstStyle/>
          <a:p>
            <a:r>
              <a:rPr lang="en-US" sz="2000" dirty="0"/>
              <a:t>Parallel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65023-F61C-4E98-0B61-BAAC13148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60F5A50-282A-307F-694F-0CACA35E8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98" y="1535308"/>
            <a:ext cx="10793194" cy="4011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682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0AFBF316-AB75-6869-B8D9-1CE4AC22CD9A}"/>
              </a:ext>
            </a:extLst>
          </p:cNvPr>
          <p:cNvSpPr/>
          <p:nvPr/>
        </p:nvSpPr>
        <p:spPr>
          <a:xfrm>
            <a:off x="4937698" y="2887927"/>
            <a:ext cx="2659502" cy="55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E576AEB-D573-7362-6DAD-6F92B1E53D91}"/>
              </a:ext>
            </a:extLst>
          </p:cNvPr>
          <p:cNvSpPr/>
          <p:nvPr/>
        </p:nvSpPr>
        <p:spPr>
          <a:xfrm>
            <a:off x="4937699" y="3421326"/>
            <a:ext cx="2659501" cy="5524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CBAE99-A279-1528-70D2-D70E39500579}"/>
              </a:ext>
            </a:extLst>
          </p:cNvPr>
          <p:cNvSpPr txBox="1"/>
          <p:nvPr/>
        </p:nvSpPr>
        <p:spPr>
          <a:xfrm>
            <a:off x="9793618" y="426445"/>
            <a:ext cx="78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A018FBC-4C34-9133-9AF8-B840FBD7736D}"/>
              </a:ext>
            </a:extLst>
          </p:cNvPr>
          <p:cNvSpPr/>
          <p:nvPr/>
        </p:nvSpPr>
        <p:spPr>
          <a:xfrm>
            <a:off x="4937698" y="3954725"/>
            <a:ext cx="2659500" cy="552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90469C-C068-5EEA-71DF-9E91F6D8F1C5}"/>
              </a:ext>
            </a:extLst>
          </p:cNvPr>
          <p:cNvSpPr/>
          <p:nvPr/>
        </p:nvSpPr>
        <p:spPr>
          <a:xfrm>
            <a:off x="4937698" y="2345002"/>
            <a:ext cx="2659502" cy="55245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1BA40FB-4597-2D69-81BB-73B677EC7F32}"/>
              </a:ext>
            </a:extLst>
          </p:cNvPr>
          <p:cNvCxnSpPr/>
          <p:nvPr/>
        </p:nvCxnSpPr>
        <p:spPr>
          <a:xfrm>
            <a:off x="5256812" y="2347913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3C0C5B8-2D4C-CD81-EDAF-A357F0DAFB6E}"/>
              </a:ext>
            </a:extLst>
          </p:cNvPr>
          <p:cNvCxnSpPr/>
          <p:nvPr/>
        </p:nvCxnSpPr>
        <p:spPr>
          <a:xfrm>
            <a:off x="5650636" y="2347913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0559702-2528-4044-5FE0-0922229D0C17}"/>
              </a:ext>
            </a:extLst>
          </p:cNvPr>
          <p:cNvCxnSpPr/>
          <p:nvPr/>
        </p:nvCxnSpPr>
        <p:spPr>
          <a:xfrm>
            <a:off x="5992483" y="235929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3B7CAE8-8EE0-5853-12EF-8EAF3B7814FF}"/>
              </a:ext>
            </a:extLst>
          </p:cNvPr>
          <p:cNvCxnSpPr>
            <a:cxnSpLocks/>
            <a:endCxn id="66" idx="3"/>
          </p:cNvCxnSpPr>
          <p:nvPr/>
        </p:nvCxnSpPr>
        <p:spPr>
          <a:xfrm>
            <a:off x="4937698" y="2621227"/>
            <a:ext cx="265950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47C5A3B-0FE9-BCC1-3944-35FFFDFCFCAB}"/>
              </a:ext>
            </a:extLst>
          </p:cNvPr>
          <p:cNvCxnSpPr>
            <a:cxnSpLocks/>
            <a:endCxn id="62" idx="3"/>
          </p:cNvCxnSpPr>
          <p:nvPr/>
        </p:nvCxnSpPr>
        <p:spPr>
          <a:xfrm>
            <a:off x="4937699" y="3161845"/>
            <a:ext cx="2659501" cy="23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E62AB10-E977-6F22-F3A2-33902DA8BCA4}"/>
              </a:ext>
            </a:extLst>
          </p:cNvPr>
          <p:cNvCxnSpPr>
            <a:cxnSpLocks/>
            <a:endCxn id="63" idx="3"/>
          </p:cNvCxnSpPr>
          <p:nvPr/>
        </p:nvCxnSpPr>
        <p:spPr>
          <a:xfrm>
            <a:off x="4937699" y="3695335"/>
            <a:ext cx="2659501" cy="2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23ADE-3AF3-C186-3526-B15758B594A9}"/>
              </a:ext>
            </a:extLst>
          </p:cNvPr>
          <p:cNvCxnSpPr>
            <a:cxnSpLocks/>
            <a:endCxn id="65" idx="3"/>
          </p:cNvCxnSpPr>
          <p:nvPr/>
        </p:nvCxnSpPr>
        <p:spPr>
          <a:xfrm>
            <a:off x="4918649" y="4230950"/>
            <a:ext cx="267854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FCFA283-8E8A-69F2-3927-8ABBBF4292ED}"/>
              </a:ext>
            </a:extLst>
          </p:cNvPr>
          <p:cNvCxnSpPr>
            <a:cxnSpLocks/>
          </p:cNvCxnSpPr>
          <p:nvPr/>
        </p:nvCxnSpPr>
        <p:spPr>
          <a:xfrm flipH="1">
            <a:off x="7441721" y="2253592"/>
            <a:ext cx="778931" cy="250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048A565-400E-6FAB-4636-B7650B6F859E}"/>
              </a:ext>
            </a:extLst>
          </p:cNvPr>
          <p:cNvSpPr txBox="1"/>
          <p:nvPr/>
        </p:nvSpPr>
        <p:spPr>
          <a:xfrm>
            <a:off x="8100834" y="1800767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Cell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F6233BB-DB05-F348-FCD1-3B724143568F}"/>
              </a:ext>
            </a:extLst>
          </p:cNvPr>
          <p:cNvCxnSpPr>
            <a:cxnSpLocks/>
          </p:cNvCxnSpPr>
          <p:nvPr/>
        </p:nvCxnSpPr>
        <p:spPr>
          <a:xfrm>
            <a:off x="4333294" y="2621227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932DA7B-B479-A507-CAF4-D0FB02846A7E}"/>
              </a:ext>
            </a:extLst>
          </p:cNvPr>
          <p:cNvSpPr txBox="1"/>
          <p:nvPr/>
        </p:nvSpPr>
        <p:spPr>
          <a:xfrm>
            <a:off x="3683864" y="2503613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worker1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1079ED-0990-1CF9-1EB2-A5640A426468}"/>
              </a:ext>
            </a:extLst>
          </p:cNvPr>
          <p:cNvCxnSpPr>
            <a:cxnSpLocks/>
          </p:cNvCxnSpPr>
          <p:nvPr/>
        </p:nvCxnSpPr>
        <p:spPr>
          <a:xfrm>
            <a:off x="4333294" y="3161845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CFB360A-68A3-5D6A-3C39-870EEFD147FF}"/>
              </a:ext>
            </a:extLst>
          </p:cNvPr>
          <p:cNvSpPr txBox="1"/>
          <p:nvPr/>
        </p:nvSpPr>
        <p:spPr>
          <a:xfrm>
            <a:off x="3704645" y="3038734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C7C1DC-FFA8-82F3-438B-901AE6E4A42F}"/>
              </a:ext>
            </a:extLst>
          </p:cNvPr>
          <p:cNvSpPr txBox="1"/>
          <p:nvPr/>
        </p:nvSpPr>
        <p:spPr>
          <a:xfrm>
            <a:off x="3759198" y="3514855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9611A79-534F-5EF1-6DC4-9F258A05282D}"/>
              </a:ext>
            </a:extLst>
          </p:cNvPr>
          <p:cNvSpPr txBox="1"/>
          <p:nvPr/>
        </p:nvSpPr>
        <p:spPr>
          <a:xfrm>
            <a:off x="3752270" y="4049978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worker4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9914E58-C757-DF5E-582F-DF553703EFAC}"/>
              </a:ext>
            </a:extLst>
          </p:cNvPr>
          <p:cNvCxnSpPr>
            <a:cxnSpLocks/>
          </p:cNvCxnSpPr>
          <p:nvPr/>
        </p:nvCxnSpPr>
        <p:spPr>
          <a:xfrm>
            <a:off x="4434607" y="3637965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3698BA5-B1B0-B238-99BB-77AE796104BE}"/>
              </a:ext>
            </a:extLst>
          </p:cNvPr>
          <p:cNvCxnSpPr>
            <a:cxnSpLocks/>
          </p:cNvCxnSpPr>
          <p:nvPr/>
        </p:nvCxnSpPr>
        <p:spPr>
          <a:xfrm>
            <a:off x="4468377" y="4173088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itle 1">
            <a:extLst>
              <a:ext uri="{FF2B5EF4-FFF2-40B4-BE49-F238E27FC236}">
                <a16:creationId xmlns:a16="http://schemas.microsoft.com/office/drawing/2014/main" id="{1E826457-6728-CD62-7E11-81840078581D}"/>
              </a:ext>
            </a:extLst>
          </p:cNvPr>
          <p:cNvSpPr txBox="1">
            <a:spLocks/>
          </p:cNvSpPr>
          <p:nvPr/>
        </p:nvSpPr>
        <p:spPr>
          <a:xfrm>
            <a:off x="309563" y="-313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/>
              <a:t>Detail implementation (4 workers) </a:t>
            </a:r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0A9CBB-8602-9148-C2DB-34C1349DC0AF}"/>
              </a:ext>
            </a:extLst>
          </p:cNvPr>
          <p:cNvCxnSpPr/>
          <p:nvPr/>
        </p:nvCxnSpPr>
        <p:spPr>
          <a:xfrm>
            <a:off x="6340415" y="2340239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3689BF-38A8-CA46-3136-B160390C1350}"/>
              </a:ext>
            </a:extLst>
          </p:cNvPr>
          <p:cNvCxnSpPr/>
          <p:nvPr/>
        </p:nvCxnSpPr>
        <p:spPr>
          <a:xfrm>
            <a:off x="6675302" y="2340239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FE693A-E41E-2C5E-131F-DC437D46550F}"/>
              </a:ext>
            </a:extLst>
          </p:cNvPr>
          <p:cNvCxnSpPr/>
          <p:nvPr/>
        </p:nvCxnSpPr>
        <p:spPr>
          <a:xfrm>
            <a:off x="7007524" y="2347913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645181-78BD-95F8-DFB8-AF2FB0451C7B}"/>
              </a:ext>
            </a:extLst>
          </p:cNvPr>
          <p:cNvCxnSpPr/>
          <p:nvPr/>
        </p:nvCxnSpPr>
        <p:spPr>
          <a:xfrm>
            <a:off x="7301631" y="235929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20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0EB6576-6282-6F60-EEA7-3809F301E1D6}"/>
              </a:ext>
            </a:extLst>
          </p:cNvPr>
          <p:cNvCxnSpPr>
            <a:cxnSpLocks/>
          </p:cNvCxnSpPr>
          <p:nvPr/>
        </p:nvCxnSpPr>
        <p:spPr>
          <a:xfrm>
            <a:off x="4183748" y="3045673"/>
            <a:ext cx="31894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740B497-E707-2AC0-6291-4226FCDAA9B0}"/>
              </a:ext>
            </a:extLst>
          </p:cNvPr>
          <p:cNvSpPr txBox="1"/>
          <p:nvPr/>
        </p:nvSpPr>
        <p:spPr>
          <a:xfrm>
            <a:off x="8341403" y="1040649"/>
            <a:ext cx="1634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Worker return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9BCC469-CF9B-4960-051D-1DE9C0A58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031340"/>
              </p:ext>
            </p:extLst>
          </p:nvPr>
        </p:nvGraphicFramePr>
        <p:xfrm>
          <a:off x="9022215" y="2547604"/>
          <a:ext cx="7394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4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69744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2307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C7B36E4A-7F5B-0D0C-ED95-140689A1D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580802"/>
              </p:ext>
            </p:extLst>
          </p:nvPr>
        </p:nvGraphicFramePr>
        <p:xfrm>
          <a:off x="9022217" y="3282696"/>
          <a:ext cx="7394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3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69743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3449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458011E4-C335-A1BD-FB38-2F89342C5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418516"/>
              </p:ext>
            </p:extLst>
          </p:nvPr>
        </p:nvGraphicFramePr>
        <p:xfrm>
          <a:off x="9058584" y="4073420"/>
          <a:ext cx="700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115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50115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3449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D3DB57BF-620A-16C3-410F-D210E6597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41062"/>
              </p:ext>
            </p:extLst>
          </p:nvPr>
        </p:nvGraphicFramePr>
        <p:xfrm>
          <a:off x="9058584" y="4769672"/>
          <a:ext cx="7394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5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69745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3449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5C21AC4D-DB21-C90F-595D-A19DDCBF64DC}"/>
              </a:ext>
            </a:extLst>
          </p:cNvPr>
          <p:cNvSpPr txBox="1"/>
          <p:nvPr/>
        </p:nvSpPr>
        <p:spPr>
          <a:xfrm>
            <a:off x="10139528" y="2531197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31C17B-908B-1753-F044-0B47DEE66AE7}"/>
              </a:ext>
            </a:extLst>
          </p:cNvPr>
          <p:cNvSpPr txBox="1"/>
          <p:nvPr/>
        </p:nvSpPr>
        <p:spPr>
          <a:xfrm>
            <a:off x="10139528" y="3311356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A21DD5-02D8-B3D6-9A30-50EEA34E5CD5}"/>
              </a:ext>
            </a:extLst>
          </p:cNvPr>
          <p:cNvSpPr txBox="1"/>
          <p:nvPr/>
        </p:nvSpPr>
        <p:spPr>
          <a:xfrm>
            <a:off x="10139528" y="4163717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E1793A-9AC7-8394-60F9-A5E95B1247D0}"/>
              </a:ext>
            </a:extLst>
          </p:cNvPr>
          <p:cNvSpPr txBox="1"/>
          <p:nvPr/>
        </p:nvSpPr>
        <p:spPr>
          <a:xfrm>
            <a:off x="10139528" y="4829441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0EFA4E-29C3-897C-FC93-57027C081D79}"/>
              </a:ext>
            </a:extLst>
          </p:cNvPr>
          <p:cNvSpPr txBox="1"/>
          <p:nvPr/>
        </p:nvSpPr>
        <p:spPr>
          <a:xfrm>
            <a:off x="6869566" y="2011957"/>
            <a:ext cx="25223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Cell in this turn need flip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A8189F-41E8-95AF-B5C5-D84CC85E2F8A}"/>
              </a:ext>
            </a:extLst>
          </p:cNvPr>
          <p:cNvCxnSpPr>
            <a:cxnSpLocks/>
          </p:cNvCxnSpPr>
          <p:nvPr/>
        </p:nvCxnSpPr>
        <p:spPr>
          <a:xfrm>
            <a:off x="8200757" y="2318978"/>
            <a:ext cx="1020305" cy="411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itle 1">
            <a:extLst>
              <a:ext uri="{FF2B5EF4-FFF2-40B4-BE49-F238E27FC236}">
                <a16:creationId xmlns:a16="http://schemas.microsoft.com/office/drawing/2014/main" id="{D2A9E5E0-75CE-8DB7-3395-3418473CDDA4}"/>
              </a:ext>
            </a:extLst>
          </p:cNvPr>
          <p:cNvSpPr txBox="1">
            <a:spLocks/>
          </p:cNvSpPr>
          <p:nvPr/>
        </p:nvSpPr>
        <p:spPr>
          <a:xfrm>
            <a:off x="66888" y="-516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/>
              <a:t>Detail implementation (4 workers) 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FDA78-BD96-9063-692F-0A0FD20F215D}"/>
              </a:ext>
            </a:extLst>
          </p:cNvPr>
          <p:cNvSpPr txBox="1"/>
          <p:nvPr/>
        </p:nvSpPr>
        <p:spPr>
          <a:xfrm>
            <a:off x="4053611" y="3253004"/>
            <a:ext cx="36441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worker will determine this cell flip or not by checking it surrounding and return a slice which contain the cell need to flip in this turn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51620-D4EE-A7A4-5ECA-176562DEA7FC}"/>
              </a:ext>
            </a:extLst>
          </p:cNvPr>
          <p:cNvSpPr txBox="1"/>
          <p:nvPr/>
        </p:nvSpPr>
        <p:spPr>
          <a:xfrm>
            <a:off x="1035997" y="1056382"/>
            <a:ext cx="188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Distributor send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615A4-D96D-83EE-66DF-217533DDC714}"/>
              </a:ext>
            </a:extLst>
          </p:cNvPr>
          <p:cNvSpPr txBox="1"/>
          <p:nvPr/>
        </p:nvSpPr>
        <p:spPr>
          <a:xfrm>
            <a:off x="9793618" y="426445"/>
            <a:ext cx="78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B10AF9-6B99-9245-AB90-378E5D03D481}"/>
              </a:ext>
            </a:extLst>
          </p:cNvPr>
          <p:cNvSpPr/>
          <p:nvPr/>
        </p:nvSpPr>
        <p:spPr>
          <a:xfrm>
            <a:off x="1186669" y="2648645"/>
            <a:ext cx="2659502" cy="55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AFBCAC-C770-9F4F-3846-D1922A2B2067}"/>
              </a:ext>
            </a:extLst>
          </p:cNvPr>
          <p:cNvSpPr/>
          <p:nvPr/>
        </p:nvSpPr>
        <p:spPr>
          <a:xfrm>
            <a:off x="1186670" y="3182044"/>
            <a:ext cx="2659501" cy="5524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2B1EA6-47BF-1C49-BDE5-5D8D733E1690}"/>
              </a:ext>
            </a:extLst>
          </p:cNvPr>
          <p:cNvSpPr/>
          <p:nvPr/>
        </p:nvSpPr>
        <p:spPr>
          <a:xfrm>
            <a:off x="1186669" y="3715443"/>
            <a:ext cx="2659500" cy="552451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25488B-9D89-8A85-DDA9-F4F4B1ECA6AE}"/>
              </a:ext>
            </a:extLst>
          </p:cNvPr>
          <p:cNvSpPr/>
          <p:nvPr/>
        </p:nvSpPr>
        <p:spPr>
          <a:xfrm>
            <a:off x="1186669" y="2105720"/>
            <a:ext cx="2659502" cy="55245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E972AE-D8A0-BBBE-A778-DE951249C0A8}"/>
              </a:ext>
            </a:extLst>
          </p:cNvPr>
          <p:cNvCxnSpPr/>
          <p:nvPr/>
        </p:nvCxnSpPr>
        <p:spPr>
          <a:xfrm>
            <a:off x="1505783" y="210863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574551-7DA0-8829-C6A8-B78C3AC08D76}"/>
              </a:ext>
            </a:extLst>
          </p:cNvPr>
          <p:cNvCxnSpPr/>
          <p:nvPr/>
        </p:nvCxnSpPr>
        <p:spPr>
          <a:xfrm>
            <a:off x="1899607" y="210863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A517F1-29E4-074F-1994-687D77609A0B}"/>
              </a:ext>
            </a:extLst>
          </p:cNvPr>
          <p:cNvCxnSpPr/>
          <p:nvPr/>
        </p:nvCxnSpPr>
        <p:spPr>
          <a:xfrm>
            <a:off x="2241454" y="2120009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CBD6AF-A4CD-CB53-7FE3-5A2CCE8CAFB5}"/>
              </a:ext>
            </a:extLst>
          </p:cNvPr>
          <p:cNvCxnSpPr>
            <a:cxnSpLocks/>
            <a:endCxn id="8" idx="3"/>
          </p:cNvCxnSpPr>
          <p:nvPr/>
        </p:nvCxnSpPr>
        <p:spPr>
          <a:xfrm>
            <a:off x="1186669" y="2381945"/>
            <a:ext cx="265950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C4B9C7-15E8-CE85-4FE2-025977C7A345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1186670" y="2922563"/>
            <a:ext cx="2659501" cy="23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AB0A9B-D1A6-C1A3-8F8A-6343CC49742C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1186670" y="3456053"/>
            <a:ext cx="2659501" cy="2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FA19A5-8A91-E221-D99C-475D981CC857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167620" y="3991668"/>
            <a:ext cx="267854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805E31-1593-06E8-8C44-0ED817EB3D3D}"/>
              </a:ext>
            </a:extLst>
          </p:cNvPr>
          <p:cNvCxnSpPr>
            <a:cxnSpLocks/>
          </p:cNvCxnSpPr>
          <p:nvPr/>
        </p:nvCxnSpPr>
        <p:spPr>
          <a:xfrm flipH="1">
            <a:off x="3690692" y="2014310"/>
            <a:ext cx="778931" cy="250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E926D22-270E-58D7-F98A-17346C56B413}"/>
              </a:ext>
            </a:extLst>
          </p:cNvPr>
          <p:cNvSpPr txBox="1"/>
          <p:nvPr/>
        </p:nvSpPr>
        <p:spPr>
          <a:xfrm>
            <a:off x="4349805" y="156148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Cell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842026-B550-26DE-0815-3717C3AECF3F}"/>
              </a:ext>
            </a:extLst>
          </p:cNvPr>
          <p:cNvCxnSpPr>
            <a:cxnSpLocks/>
          </p:cNvCxnSpPr>
          <p:nvPr/>
        </p:nvCxnSpPr>
        <p:spPr>
          <a:xfrm>
            <a:off x="582265" y="2381945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C07FC4E-21E1-2EA4-46ED-18C046849C0E}"/>
              </a:ext>
            </a:extLst>
          </p:cNvPr>
          <p:cNvSpPr txBox="1"/>
          <p:nvPr/>
        </p:nvSpPr>
        <p:spPr>
          <a:xfrm>
            <a:off x="-67165" y="2264331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51856E-8EE1-1551-2224-7B42AC838E16}"/>
              </a:ext>
            </a:extLst>
          </p:cNvPr>
          <p:cNvCxnSpPr>
            <a:cxnSpLocks/>
          </p:cNvCxnSpPr>
          <p:nvPr/>
        </p:nvCxnSpPr>
        <p:spPr>
          <a:xfrm>
            <a:off x="582265" y="2922563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079942B-4D1E-10E0-8BA8-34DFD9DEAF0A}"/>
              </a:ext>
            </a:extLst>
          </p:cNvPr>
          <p:cNvSpPr txBox="1"/>
          <p:nvPr/>
        </p:nvSpPr>
        <p:spPr>
          <a:xfrm>
            <a:off x="-46384" y="2799452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6866A-1091-C078-04F2-492F9C1814C9}"/>
              </a:ext>
            </a:extLst>
          </p:cNvPr>
          <p:cNvSpPr txBox="1"/>
          <p:nvPr/>
        </p:nvSpPr>
        <p:spPr>
          <a:xfrm>
            <a:off x="8169" y="3275573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B3EFF3-7667-EAAD-FD77-194D91280DA6}"/>
              </a:ext>
            </a:extLst>
          </p:cNvPr>
          <p:cNvSpPr txBox="1"/>
          <p:nvPr/>
        </p:nvSpPr>
        <p:spPr>
          <a:xfrm>
            <a:off x="1241" y="3810696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63963D-AFD5-2AAD-40E3-2A12C40F0733}"/>
              </a:ext>
            </a:extLst>
          </p:cNvPr>
          <p:cNvCxnSpPr>
            <a:cxnSpLocks/>
          </p:cNvCxnSpPr>
          <p:nvPr/>
        </p:nvCxnSpPr>
        <p:spPr>
          <a:xfrm>
            <a:off x="683578" y="3398683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51AC85-A28E-6CEF-8B1F-88DBC9E3524A}"/>
              </a:ext>
            </a:extLst>
          </p:cNvPr>
          <p:cNvCxnSpPr>
            <a:cxnSpLocks/>
          </p:cNvCxnSpPr>
          <p:nvPr/>
        </p:nvCxnSpPr>
        <p:spPr>
          <a:xfrm>
            <a:off x="717348" y="3933806"/>
            <a:ext cx="261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6D5309-7479-C2CC-AB95-874A24C7B870}"/>
              </a:ext>
            </a:extLst>
          </p:cNvPr>
          <p:cNvCxnSpPr/>
          <p:nvPr/>
        </p:nvCxnSpPr>
        <p:spPr>
          <a:xfrm>
            <a:off x="2589386" y="2100957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3C7477D-89D9-C8E8-4625-52FC6387764E}"/>
              </a:ext>
            </a:extLst>
          </p:cNvPr>
          <p:cNvCxnSpPr/>
          <p:nvPr/>
        </p:nvCxnSpPr>
        <p:spPr>
          <a:xfrm>
            <a:off x="2924273" y="2100957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7A08A8-DD00-1870-2E1D-A9B36E866F07}"/>
              </a:ext>
            </a:extLst>
          </p:cNvPr>
          <p:cNvCxnSpPr/>
          <p:nvPr/>
        </p:nvCxnSpPr>
        <p:spPr>
          <a:xfrm>
            <a:off x="3256495" y="210863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85088F7-9E2B-D66C-EAE3-B1618947091A}"/>
              </a:ext>
            </a:extLst>
          </p:cNvPr>
          <p:cNvCxnSpPr/>
          <p:nvPr/>
        </p:nvCxnSpPr>
        <p:spPr>
          <a:xfrm>
            <a:off x="3550602" y="2120009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187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85185E-6 L -0.37682 -0.179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41" y="-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-0.30976 -0.285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95" y="-1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0044 L -0.24531 -0.3983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66" y="-2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2.22222E-6 L -0.18698 -0.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62" y="-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97F73140-1BDC-E985-08ED-FDCB6540E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692391"/>
              </p:ext>
            </p:extLst>
          </p:nvPr>
        </p:nvGraphicFramePr>
        <p:xfrm>
          <a:off x="2676622" y="4695764"/>
          <a:ext cx="6002080" cy="970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0">
                  <a:extLst>
                    <a:ext uri="{9D8B030D-6E8A-4147-A177-3AD203B41FA5}">
                      <a16:colId xmlns:a16="http://schemas.microsoft.com/office/drawing/2014/main" val="3650251595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1864309198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1307432789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616930007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1973629872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2405927785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1049215933"/>
                    </a:ext>
                  </a:extLst>
                </a:gridCol>
                <a:gridCol w="750260">
                  <a:extLst>
                    <a:ext uri="{9D8B030D-6E8A-4147-A177-3AD203B41FA5}">
                      <a16:colId xmlns:a16="http://schemas.microsoft.com/office/drawing/2014/main" val="766330519"/>
                    </a:ext>
                  </a:extLst>
                </a:gridCol>
              </a:tblGrid>
              <a:tr h="97066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04955"/>
                  </a:ext>
                </a:extLst>
              </a:tr>
            </a:tbl>
          </a:graphicData>
        </a:graphic>
      </p:graphicFrame>
      <p:graphicFrame>
        <p:nvGraphicFramePr>
          <p:cNvPr id="4" name="Content Placeholder 35">
            <a:extLst>
              <a:ext uri="{FF2B5EF4-FFF2-40B4-BE49-F238E27FC236}">
                <a16:creationId xmlns:a16="http://schemas.microsoft.com/office/drawing/2014/main" id="{B2D19F18-5850-3A32-37E2-4DA6E3B030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694230"/>
              </p:ext>
            </p:extLst>
          </p:nvPr>
        </p:nvGraphicFramePr>
        <p:xfrm>
          <a:off x="2581215" y="1825625"/>
          <a:ext cx="6464300" cy="88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75">
                  <a:extLst>
                    <a:ext uri="{9D8B030D-6E8A-4147-A177-3AD203B41FA5}">
                      <a16:colId xmlns:a16="http://schemas.microsoft.com/office/drawing/2014/main" val="409582118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56306586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204987820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1979374447"/>
                    </a:ext>
                  </a:extLst>
                </a:gridCol>
              </a:tblGrid>
              <a:tr h="8858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581366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A036B6-9EF2-22DB-9F99-410BDD12ED66}"/>
              </a:ext>
            </a:extLst>
          </p:cNvPr>
          <p:cNvCxnSpPr/>
          <p:nvPr/>
        </p:nvCxnSpPr>
        <p:spPr>
          <a:xfrm>
            <a:off x="3391129" y="182562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69D24E-1BBB-0D74-2FC0-7C0E8645396C}"/>
              </a:ext>
            </a:extLst>
          </p:cNvPr>
          <p:cNvCxnSpPr/>
          <p:nvPr/>
        </p:nvCxnSpPr>
        <p:spPr>
          <a:xfrm>
            <a:off x="5024234" y="182562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04DB4A-9E7D-F16B-54F2-BC1D064B2C8A}"/>
              </a:ext>
            </a:extLst>
          </p:cNvPr>
          <p:cNvCxnSpPr/>
          <p:nvPr/>
        </p:nvCxnSpPr>
        <p:spPr>
          <a:xfrm>
            <a:off x="6626166" y="182562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B3A317-51DC-7F5B-9688-7E0999182844}"/>
              </a:ext>
            </a:extLst>
          </p:cNvPr>
          <p:cNvCxnSpPr/>
          <p:nvPr/>
        </p:nvCxnSpPr>
        <p:spPr>
          <a:xfrm>
            <a:off x="8252343" y="182562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F6FD57-7192-1517-9434-D0080A559F42}"/>
              </a:ext>
            </a:extLst>
          </p:cNvPr>
          <p:cNvCxnSpPr/>
          <p:nvPr/>
        </p:nvCxnSpPr>
        <p:spPr>
          <a:xfrm>
            <a:off x="5543909" y="2835215"/>
            <a:ext cx="0" cy="173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2E58A2C-A709-216E-A108-E927658D9BD2}"/>
              </a:ext>
            </a:extLst>
          </p:cNvPr>
          <p:cNvSpPr txBox="1">
            <a:spLocks/>
          </p:cNvSpPr>
          <p:nvPr/>
        </p:nvSpPr>
        <p:spPr>
          <a:xfrm>
            <a:off x="66888" y="-516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/>
              <a:t>Detail implementation (4 workers) 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0132D-32DF-1C95-8244-2580B2E22964}"/>
              </a:ext>
            </a:extLst>
          </p:cNvPr>
          <p:cNvSpPr txBox="1"/>
          <p:nvPr/>
        </p:nvSpPr>
        <p:spPr>
          <a:xfrm>
            <a:off x="5677662" y="3474710"/>
            <a:ext cx="4699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</a:t>
            </a:r>
            <a:r>
              <a:rPr lang="en-US" dirty="0" err="1"/>
              <a:t>neibourgh</a:t>
            </a:r>
            <a:r>
              <a:rPr lang="en-US" dirty="0"/>
              <a:t> function get all the </a:t>
            </a:r>
            <a:r>
              <a:rPr lang="en-US" dirty="0" err="1"/>
              <a:t>neibourgh</a:t>
            </a:r>
            <a:r>
              <a:rPr lang="en-US" dirty="0"/>
              <a:t> </a:t>
            </a:r>
          </a:p>
          <a:p>
            <a:r>
              <a:rPr lang="en-US" dirty="0"/>
              <a:t>And append each cell to a 1D slice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7CBE7-68BF-BE51-3E54-B7DA92FF7AD3}"/>
              </a:ext>
            </a:extLst>
          </p:cNvPr>
          <p:cNvSpPr txBox="1"/>
          <p:nvPr/>
        </p:nvSpPr>
        <p:spPr>
          <a:xfrm>
            <a:off x="3928970" y="1106143"/>
            <a:ext cx="306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Combine multiple slice to 1D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7FF1625-D053-82A2-19D2-39A04163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268" y="-95311"/>
            <a:ext cx="10515600" cy="1325563"/>
          </a:xfrm>
        </p:spPr>
        <p:txBody>
          <a:bodyPr>
            <a:normAutofit/>
          </a:bodyPr>
          <a:lstStyle/>
          <a:p>
            <a:r>
              <a:rPr lang="en-US" sz="1500" dirty="0"/>
              <a:t>Inside Distributor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723DAF-445C-28E7-A892-E06E1F81F986}"/>
              </a:ext>
            </a:extLst>
          </p:cNvPr>
          <p:cNvSpPr txBox="1"/>
          <p:nvPr/>
        </p:nvSpPr>
        <p:spPr>
          <a:xfrm>
            <a:off x="9793618" y="426445"/>
            <a:ext cx="78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44040-7DE8-7D17-9245-299DD272D934}"/>
              </a:ext>
            </a:extLst>
          </p:cNvPr>
          <p:cNvSpPr txBox="1"/>
          <p:nvPr/>
        </p:nvSpPr>
        <p:spPr>
          <a:xfrm>
            <a:off x="0" y="4811766"/>
            <a:ext cx="2353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of </a:t>
            </a:r>
            <a:r>
              <a:rPr lang="en-US" dirty="0" err="1"/>
              <a:t>neighbour</a:t>
            </a:r>
            <a:r>
              <a:rPr lang="en-US" dirty="0"/>
              <a:t>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0AFC3-4877-4ABE-50DB-2ECEB9EFFFA3}"/>
              </a:ext>
            </a:extLst>
          </p:cNvPr>
          <p:cNvSpPr txBox="1"/>
          <p:nvPr/>
        </p:nvSpPr>
        <p:spPr>
          <a:xfrm>
            <a:off x="-18539" y="2046234"/>
            <a:ext cx="2695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List of Cell that need to flip in this turn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F7585-A739-C826-DC84-BC291AC7425C}"/>
              </a:ext>
            </a:extLst>
          </p:cNvPr>
          <p:cNvSpPr txBox="1"/>
          <p:nvPr/>
        </p:nvSpPr>
        <p:spPr>
          <a:xfrm>
            <a:off x="9059213" y="4811766"/>
            <a:ext cx="7521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. . . </a:t>
            </a:r>
          </a:p>
        </p:txBody>
      </p:sp>
    </p:spTree>
    <p:extLst>
      <p:ext uri="{BB962C8B-B14F-4D97-AF65-F5344CB8AC3E}">
        <p14:creationId xmlns:p14="http://schemas.microsoft.com/office/powerpoint/2010/main" val="59829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A2C595-A96D-B813-3D86-71EC918D6585}"/>
              </a:ext>
            </a:extLst>
          </p:cNvPr>
          <p:cNvSpPr/>
          <p:nvPr/>
        </p:nvSpPr>
        <p:spPr>
          <a:xfrm>
            <a:off x="4424450" y="4109385"/>
            <a:ext cx="2659502" cy="5524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3FB52-6860-2DAC-B8B6-D3EABA2D1A2E}"/>
              </a:ext>
            </a:extLst>
          </p:cNvPr>
          <p:cNvSpPr/>
          <p:nvPr/>
        </p:nvSpPr>
        <p:spPr>
          <a:xfrm>
            <a:off x="4424451" y="4642784"/>
            <a:ext cx="2659501" cy="5524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6E5CB-7BCF-3C13-7336-11EB903CC589}"/>
              </a:ext>
            </a:extLst>
          </p:cNvPr>
          <p:cNvSpPr/>
          <p:nvPr/>
        </p:nvSpPr>
        <p:spPr>
          <a:xfrm>
            <a:off x="4424450" y="5176183"/>
            <a:ext cx="2659500" cy="5524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84BB3B-C00E-DE19-BE7F-A83561C3D0D9}"/>
              </a:ext>
            </a:extLst>
          </p:cNvPr>
          <p:cNvSpPr/>
          <p:nvPr/>
        </p:nvSpPr>
        <p:spPr>
          <a:xfrm>
            <a:off x="4424450" y="3566460"/>
            <a:ext cx="2659502" cy="5524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7C093E-8C27-365F-62C9-58219FD6A92A}"/>
              </a:ext>
            </a:extLst>
          </p:cNvPr>
          <p:cNvCxnSpPr>
            <a:cxnSpLocks/>
          </p:cNvCxnSpPr>
          <p:nvPr/>
        </p:nvCxnSpPr>
        <p:spPr>
          <a:xfrm>
            <a:off x="4743564" y="356937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9B766-0096-3275-44A5-ECCD3BA3CAAA}"/>
              </a:ext>
            </a:extLst>
          </p:cNvPr>
          <p:cNvCxnSpPr>
            <a:cxnSpLocks/>
          </p:cNvCxnSpPr>
          <p:nvPr/>
        </p:nvCxnSpPr>
        <p:spPr>
          <a:xfrm>
            <a:off x="5137388" y="356937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BCB0F5-44F9-66CF-FC0E-D1720614BB2F}"/>
              </a:ext>
            </a:extLst>
          </p:cNvPr>
          <p:cNvCxnSpPr>
            <a:cxnSpLocks/>
          </p:cNvCxnSpPr>
          <p:nvPr/>
        </p:nvCxnSpPr>
        <p:spPr>
          <a:xfrm>
            <a:off x="5479235" y="3580749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A52951-97C1-1560-F8CD-52E0EB29FAA1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4424450" y="3842685"/>
            <a:ext cx="265950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8FBB53-1515-1BCB-3EE2-AE6660EC3B8A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4424451" y="4383303"/>
            <a:ext cx="2659501" cy="23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771DF1-F20A-D3A8-BB3D-F6A9A4F19FC5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4424451" y="4916793"/>
            <a:ext cx="2659501" cy="2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D2C0F6-3042-365A-A3C2-13F5D96A76B3}"/>
              </a:ext>
            </a:extLst>
          </p:cNvPr>
          <p:cNvCxnSpPr>
            <a:cxnSpLocks/>
            <a:endCxn id="6" idx="3"/>
          </p:cNvCxnSpPr>
          <p:nvPr/>
        </p:nvCxnSpPr>
        <p:spPr>
          <a:xfrm>
            <a:off x="4405401" y="5452408"/>
            <a:ext cx="267854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8BEA0D-CF91-6BDF-671D-69321D7AE981}"/>
              </a:ext>
            </a:extLst>
          </p:cNvPr>
          <p:cNvCxnSpPr>
            <a:cxnSpLocks/>
          </p:cNvCxnSpPr>
          <p:nvPr/>
        </p:nvCxnSpPr>
        <p:spPr>
          <a:xfrm>
            <a:off x="5827167" y="3561697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E78B-72C9-661B-3456-B717AD50717F}"/>
              </a:ext>
            </a:extLst>
          </p:cNvPr>
          <p:cNvCxnSpPr>
            <a:cxnSpLocks/>
          </p:cNvCxnSpPr>
          <p:nvPr/>
        </p:nvCxnSpPr>
        <p:spPr>
          <a:xfrm>
            <a:off x="6162054" y="3561697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37E18A-DEE8-0B76-DEB9-AF773B15D692}"/>
              </a:ext>
            </a:extLst>
          </p:cNvPr>
          <p:cNvCxnSpPr>
            <a:cxnSpLocks/>
          </p:cNvCxnSpPr>
          <p:nvPr/>
        </p:nvCxnSpPr>
        <p:spPr>
          <a:xfrm>
            <a:off x="6494276" y="3569371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6A0DF9-AA36-E7F0-5A87-62CA850ED281}"/>
              </a:ext>
            </a:extLst>
          </p:cNvPr>
          <p:cNvCxnSpPr>
            <a:cxnSpLocks/>
          </p:cNvCxnSpPr>
          <p:nvPr/>
        </p:nvCxnSpPr>
        <p:spPr>
          <a:xfrm>
            <a:off x="6788383" y="3580749"/>
            <a:ext cx="0" cy="21621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Content Placeholder 35">
            <a:extLst>
              <a:ext uri="{FF2B5EF4-FFF2-40B4-BE49-F238E27FC236}">
                <a16:creationId xmlns:a16="http://schemas.microsoft.com/office/drawing/2014/main" id="{2D7B8860-B045-B711-2C7D-A931285D1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343889"/>
              </p:ext>
            </p:extLst>
          </p:nvPr>
        </p:nvGraphicFramePr>
        <p:xfrm>
          <a:off x="2863850" y="1126455"/>
          <a:ext cx="6464300" cy="88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75">
                  <a:extLst>
                    <a:ext uri="{9D8B030D-6E8A-4147-A177-3AD203B41FA5}">
                      <a16:colId xmlns:a16="http://schemas.microsoft.com/office/drawing/2014/main" val="409582118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56306586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204987820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1979374447"/>
                    </a:ext>
                  </a:extLst>
                </a:gridCol>
              </a:tblGrid>
              <a:tr h="8858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581366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398D4E-EC03-D348-1CD8-DDE6102FBF5C}"/>
              </a:ext>
            </a:extLst>
          </p:cNvPr>
          <p:cNvCxnSpPr/>
          <p:nvPr/>
        </p:nvCxnSpPr>
        <p:spPr>
          <a:xfrm>
            <a:off x="3673764" y="112645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31C0AC-0C38-662E-0D81-B0B97AE934FC}"/>
              </a:ext>
            </a:extLst>
          </p:cNvPr>
          <p:cNvCxnSpPr/>
          <p:nvPr/>
        </p:nvCxnSpPr>
        <p:spPr>
          <a:xfrm>
            <a:off x="5306869" y="112645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4C6B18-87D7-C46A-DB70-3BAC4209010A}"/>
              </a:ext>
            </a:extLst>
          </p:cNvPr>
          <p:cNvCxnSpPr/>
          <p:nvPr/>
        </p:nvCxnSpPr>
        <p:spPr>
          <a:xfrm>
            <a:off x="6908801" y="112645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C7B0CB-2E08-1583-7C9C-C2DAAFB51256}"/>
              </a:ext>
            </a:extLst>
          </p:cNvPr>
          <p:cNvCxnSpPr/>
          <p:nvPr/>
        </p:nvCxnSpPr>
        <p:spPr>
          <a:xfrm>
            <a:off x="8534978" y="1126455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6EF29CC-F000-9A06-9B86-F2C85F1F4FA6}"/>
              </a:ext>
            </a:extLst>
          </p:cNvPr>
          <p:cNvSpPr txBox="1"/>
          <p:nvPr/>
        </p:nvSpPr>
        <p:spPr>
          <a:xfrm>
            <a:off x="45130" y="1447881"/>
            <a:ext cx="2695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List of Cell that need to flip in this turn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704489-3A11-B4B0-F7F3-6DC0C9794FC8}"/>
              </a:ext>
            </a:extLst>
          </p:cNvPr>
          <p:cNvCxnSpPr>
            <a:cxnSpLocks/>
          </p:cNvCxnSpPr>
          <p:nvPr/>
        </p:nvCxnSpPr>
        <p:spPr>
          <a:xfrm>
            <a:off x="5750943" y="2139351"/>
            <a:ext cx="0" cy="1188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9A4764B-BC0C-322B-2DE4-180435315331}"/>
              </a:ext>
            </a:extLst>
          </p:cNvPr>
          <p:cNvSpPr txBox="1"/>
          <p:nvPr/>
        </p:nvSpPr>
        <p:spPr>
          <a:xfrm>
            <a:off x="5787436" y="2642732"/>
            <a:ext cx="224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to whole world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832F88-9DA7-23E5-296F-496490FB39CF}"/>
              </a:ext>
            </a:extLst>
          </p:cNvPr>
          <p:cNvSpPr txBox="1"/>
          <p:nvPr/>
        </p:nvSpPr>
        <p:spPr>
          <a:xfrm>
            <a:off x="9793618" y="426445"/>
            <a:ext cx="78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1</a:t>
            </a:r>
          </a:p>
        </p:txBody>
      </p:sp>
    </p:spTree>
    <p:extLst>
      <p:ext uri="{BB962C8B-B14F-4D97-AF65-F5344CB8AC3E}">
        <p14:creationId xmlns:p14="http://schemas.microsoft.com/office/powerpoint/2010/main" val="1787721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C5C4-F31D-BFE7-056A-758618574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1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/>
              <a:t>Detail implementation (4 workers) </a:t>
            </a:r>
          </a:p>
        </p:txBody>
      </p:sp>
      <p:graphicFrame>
        <p:nvGraphicFramePr>
          <p:cNvPr id="36" name="Content Placeholder 35">
            <a:extLst>
              <a:ext uri="{FF2B5EF4-FFF2-40B4-BE49-F238E27FC236}">
                <a16:creationId xmlns:a16="http://schemas.microsoft.com/office/drawing/2014/main" id="{E1DB4725-80CB-7E50-E419-993062C11E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206430"/>
              </p:ext>
            </p:extLst>
          </p:nvPr>
        </p:nvGraphicFramePr>
        <p:xfrm>
          <a:off x="2472587" y="3429000"/>
          <a:ext cx="6464300" cy="88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75">
                  <a:extLst>
                    <a:ext uri="{9D8B030D-6E8A-4147-A177-3AD203B41FA5}">
                      <a16:colId xmlns:a16="http://schemas.microsoft.com/office/drawing/2014/main" val="409582118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56306586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204987820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1979374447"/>
                    </a:ext>
                  </a:extLst>
                </a:gridCol>
              </a:tblGrid>
              <a:tr h="8858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581366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9450E8B-54BD-CAFB-CEAF-98D258AA62FE}"/>
              </a:ext>
            </a:extLst>
          </p:cNvPr>
          <p:cNvCxnSpPr/>
          <p:nvPr/>
        </p:nvCxnSpPr>
        <p:spPr>
          <a:xfrm>
            <a:off x="3282501" y="3429000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B57EB4-1030-3283-28CC-DBEE20DD729A}"/>
              </a:ext>
            </a:extLst>
          </p:cNvPr>
          <p:cNvCxnSpPr/>
          <p:nvPr/>
        </p:nvCxnSpPr>
        <p:spPr>
          <a:xfrm>
            <a:off x="4915606" y="3429000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0FFBE4-7D79-2242-CB7F-467EF037EBE7}"/>
              </a:ext>
            </a:extLst>
          </p:cNvPr>
          <p:cNvCxnSpPr/>
          <p:nvPr/>
        </p:nvCxnSpPr>
        <p:spPr>
          <a:xfrm>
            <a:off x="6517538" y="3429000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5BACD3B-361B-331E-1843-351101BADE41}"/>
              </a:ext>
            </a:extLst>
          </p:cNvPr>
          <p:cNvCxnSpPr/>
          <p:nvPr/>
        </p:nvCxnSpPr>
        <p:spPr>
          <a:xfrm>
            <a:off x="8143715" y="3429000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9416FB-FD9F-3ED6-A9E6-15C0ACDC212E}"/>
              </a:ext>
            </a:extLst>
          </p:cNvPr>
          <p:cNvSpPr txBox="1"/>
          <p:nvPr/>
        </p:nvSpPr>
        <p:spPr>
          <a:xfrm>
            <a:off x="5098416" y="2118009"/>
            <a:ext cx="1923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turn(Turn N)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F24E7C-1A52-4E3E-4AF4-A7439FD20DD6}"/>
              </a:ext>
            </a:extLst>
          </p:cNvPr>
          <p:cNvSpPr txBox="1"/>
          <p:nvPr/>
        </p:nvSpPr>
        <p:spPr>
          <a:xfrm>
            <a:off x="2944796" y="5573714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696F3C-9183-2846-2530-EA81FABB6B4D}"/>
              </a:ext>
            </a:extLst>
          </p:cNvPr>
          <p:cNvSpPr txBox="1"/>
          <p:nvPr/>
        </p:nvSpPr>
        <p:spPr>
          <a:xfrm>
            <a:off x="4738960" y="5543987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CB2C28-645A-5FBA-193C-307B8F0B63DC}"/>
              </a:ext>
            </a:extLst>
          </p:cNvPr>
          <p:cNvSpPr txBox="1"/>
          <p:nvPr/>
        </p:nvSpPr>
        <p:spPr>
          <a:xfrm>
            <a:off x="6393713" y="5591321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FBA544-3C39-DCEE-F3EE-A8D947C15365}"/>
              </a:ext>
            </a:extLst>
          </p:cNvPr>
          <p:cNvSpPr txBox="1"/>
          <p:nvPr/>
        </p:nvSpPr>
        <p:spPr>
          <a:xfrm>
            <a:off x="8159302" y="5557703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worker4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3477AFC-7BC6-AC0A-4A10-BFF89B44AC4C}"/>
              </a:ext>
            </a:extLst>
          </p:cNvPr>
          <p:cNvCxnSpPr/>
          <p:nvPr/>
        </p:nvCxnSpPr>
        <p:spPr>
          <a:xfrm flipV="1">
            <a:off x="3282500" y="5155333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2E9AEBE-BC2B-F981-3697-D9B3566C303A}"/>
              </a:ext>
            </a:extLst>
          </p:cNvPr>
          <p:cNvCxnSpPr/>
          <p:nvPr/>
        </p:nvCxnSpPr>
        <p:spPr>
          <a:xfrm flipV="1">
            <a:off x="4993536" y="5155333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948F09-1F68-5942-8AF2-5BD399CD8582}"/>
              </a:ext>
            </a:extLst>
          </p:cNvPr>
          <p:cNvCxnSpPr/>
          <p:nvPr/>
        </p:nvCxnSpPr>
        <p:spPr>
          <a:xfrm flipV="1">
            <a:off x="6731417" y="5155333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3444145-C6A2-F68B-8A7E-05B8E07E1B59}"/>
              </a:ext>
            </a:extLst>
          </p:cNvPr>
          <p:cNvCxnSpPr/>
          <p:nvPr/>
        </p:nvCxnSpPr>
        <p:spPr>
          <a:xfrm flipV="1">
            <a:off x="8458904" y="5155333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44C80E4-A283-6AFB-DD58-1527A43E409F}"/>
              </a:ext>
            </a:extLst>
          </p:cNvPr>
          <p:cNvSpPr txBox="1"/>
          <p:nvPr/>
        </p:nvSpPr>
        <p:spPr>
          <a:xfrm>
            <a:off x="882639" y="2600270"/>
            <a:ext cx="45317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 Cell which is the </a:t>
            </a:r>
            <a:r>
              <a:rPr lang="en-US" sz="1500" dirty="0" err="1"/>
              <a:t>neighbour</a:t>
            </a:r>
            <a:r>
              <a:rPr lang="en-US" sz="1500" dirty="0"/>
              <a:t> of last turn flipped cell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E673831-7F11-5357-9CEA-60E8E05A3279}"/>
              </a:ext>
            </a:extLst>
          </p:cNvPr>
          <p:cNvCxnSpPr/>
          <p:nvPr/>
        </p:nvCxnSpPr>
        <p:spPr>
          <a:xfrm>
            <a:off x="2861669" y="2947304"/>
            <a:ext cx="0" cy="757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304EC4B-40CF-4DCD-346C-2EE6C2CA68C9}"/>
              </a:ext>
            </a:extLst>
          </p:cNvPr>
          <p:cNvSpPr txBox="1"/>
          <p:nvPr/>
        </p:nvSpPr>
        <p:spPr>
          <a:xfrm>
            <a:off x="4172646" y="6253623"/>
            <a:ext cx="269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split this 1D array</a:t>
            </a:r>
          </a:p>
        </p:txBody>
      </p:sp>
      <p:graphicFrame>
        <p:nvGraphicFramePr>
          <p:cNvPr id="84" name="Content Placeholder 15">
            <a:extLst>
              <a:ext uri="{FF2B5EF4-FFF2-40B4-BE49-F238E27FC236}">
                <a16:creationId xmlns:a16="http://schemas.microsoft.com/office/drawing/2014/main" id="{31E30F6E-5ADD-5667-22EA-C4B56C0019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3880709"/>
              </p:ext>
            </p:extLst>
          </p:nvPr>
        </p:nvGraphicFramePr>
        <p:xfrm>
          <a:off x="3538079" y="559855"/>
          <a:ext cx="4690272" cy="578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84">
                  <a:extLst>
                    <a:ext uri="{9D8B030D-6E8A-4147-A177-3AD203B41FA5}">
                      <a16:colId xmlns:a16="http://schemas.microsoft.com/office/drawing/2014/main" val="3650251595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1864309198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1307432789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616930007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1973629872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2405927785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1049215933"/>
                    </a:ext>
                  </a:extLst>
                </a:gridCol>
                <a:gridCol w="586284">
                  <a:extLst>
                    <a:ext uri="{9D8B030D-6E8A-4147-A177-3AD203B41FA5}">
                      <a16:colId xmlns:a16="http://schemas.microsoft.com/office/drawing/2014/main" val="766330519"/>
                    </a:ext>
                  </a:extLst>
                </a:gridCol>
              </a:tblGrid>
              <a:tr h="57862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04955"/>
                  </a:ext>
                </a:extLst>
              </a:tr>
            </a:tbl>
          </a:graphicData>
        </a:graphic>
      </p:graphicFrame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0A5373C-50FF-1188-5B16-146440F10993}"/>
              </a:ext>
            </a:extLst>
          </p:cNvPr>
          <p:cNvCxnSpPr/>
          <p:nvPr/>
        </p:nvCxnSpPr>
        <p:spPr>
          <a:xfrm>
            <a:off x="5883215" y="1251407"/>
            <a:ext cx="0" cy="866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EBD9181-1B22-CC7B-3230-6E05F4A8A931}"/>
              </a:ext>
            </a:extLst>
          </p:cNvPr>
          <p:cNvCxnSpPr>
            <a:cxnSpLocks/>
          </p:cNvCxnSpPr>
          <p:nvPr/>
        </p:nvCxnSpPr>
        <p:spPr>
          <a:xfrm flipV="1">
            <a:off x="2472587" y="874143"/>
            <a:ext cx="1231021" cy="16131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0E3D4AF-D023-EC75-1309-AB415D636B1D}"/>
              </a:ext>
            </a:extLst>
          </p:cNvPr>
          <p:cNvSpPr txBox="1"/>
          <p:nvPr/>
        </p:nvSpPr>
        <p:spPr>
          <a:xfrm>
            <a:off x="9638581" y="2230938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List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04BA64-E7E9-279C-B116-DA9722014749}"/>
              </a:ext>
            </a:extLst>
          </p:cNvPr>
          <p:cNvCxnSpPr>
            <a:cxnSpLocks/>
          </p:cNvCxnSpPr>
          <p:nvPr/>
        </p:nvCxnSpPr>
        <p:spPr>
          <a:xfrm flipH="1" flipV="1">
            <a:off x="8556724" y="1194554"/>
            <a:ext cx="1444167" cy="1078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20B707-3C31-85D2-A663-C59331990087}"/>
              </a:ext>
            </a:extLst>
          </p:cNvPr>
          <p:cNvCxnSpPr>
            <a:cxnSpLocks/>
          </p:cNvCxnSpPr>
          <p:nvPr/>
        </p:nvCxnSpPr>
        <p:spPr>
          <a:xfrm flipH="1">
            <a:off x="9134164" y="2600270"/>
            <a:ext cx="866727" cy="984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394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DB4439-33E3-7B85-5C57-AA02A549B4DA}"/>
              </a:ext>
            </a:extLst>
          </p:cNvPr>
          <p:cNvSpPr txBox="1"/>
          <p:nvPr/>
        </p:nvSpPr>
        <p:spPr>
          <a:xfrm>
            <a:off x="10271037" y="1297380"/>
            <a:ext cx="1634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Worker return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08F36-F6AF-987F-ED18-EFA950E1A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060088"/>
              </p:ext>
            </p:extLst>
          </p:nvPr>
        </p:nvGraphicFramePr>
        <p:xfrm>
          <a:off x="9707040" y="2188396"/>
          <a:ext cx="7394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4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69744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2307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2F3047-CD66-0B7B-E563-B2BB25162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717280"/>
              </p:ext>
            </p:extLst>
          </p:nvPr>
        </p:nvGraphicFramePr>
        <p:xfrm>
          <a:off x="9707042" y="2923488"/>
          <a:ext cx="7394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3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69743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3449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D96CAA-C6C7-1FB5-E383-88FB32B9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865007"/>
              </p:ext>
            </p:extLst>
          </p:nvPr>
        </p:nvGraphicFramePr>
        <p:xfrm>
          <a:off x="9743409" y="3714212"/>
          <a:ext cx="70023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115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50115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3449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85DD84-EA2A-9ABB-9594-45FAE87BE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982960"/>
              </p:ext>
            </p:extLst>
          </p:nvPr>
        </p:nvGraphicFramePr>
        <p:xfrm>
          <a:off x="9743409" y="4410464"/>
          <a:ext cx="7394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45">
                  <a:extLst>
                    <a:ext uri="{9D8B030D-6E8A-4147-A177-3AD203B41FA5}">
                      <a16:colId xmlns:a16="http://schemas.microsoft.com/office/drawing/2014/main" val="4182720100"/>
                    </a:ext>
                  </a:extLst>
                </a:gridCol>
                <a:gridCol w="369745">
                  <a:extLst>
                    <a:ext uri="{9D8B030D-6E8A-4147-A177-3AD203B41FA5}">
                      <a16:colId xmlns:a16="http://schemas.microsoft.com/office/drawing/2014/main" val="72233247"/>
                    </a:ext>
                  </a:extLst>
                </a:gridCol>
              </a:tblGrid>
              <a:tr h="3449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013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00EFCC1-10C7-442C-06FC-DCFAD892216A}"/>
              </a:ext>
            </a:extLst>
          </p:cNvPr>
          <p:cNvSpPr txBox="1"/>
          <p:nvPr/>
        </p:nvSpPr>
        <p:spPr>
          <a:xfrm>
            <a:off x="10824353" y="2171989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59505-592B-538B-24C3-0C2DB2EE8B93}"/>
              </a:ext>
            </a:extLst>
          </p:cNvPr>
          <p:cNvSpPr txBox="1"/>
          <p:nvPr/>
        </p:nvSpPr>
        <p:spPr>
          <a:xfrm>
            <a:off x="10824353" y="2952148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6DD4E5-BE21-3362-3069-5C862756EF9A}"/>
              </a:ext>
            </a:extLst>
          </p:cNvPr>
          <p:cNvSpPr txBox="1"/>
          <p:nvPr/>
        </p:nvSpPr>
        <p:spPr>
          <a:xfrm>
            <a:off x="10824353" y="3804509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DD5BA-0015-7554-9760-E20B9E430A49}"/>
              </a:ext>
            </a:extLst>
          </p:cNvPr>
          <p:cNvSpPr txBox="1"/>
          <p:nvPr/>
        </p:nvSpPr>
        <p:spPr>
          <a:xfrm>
            <a:off x="10824353" y="4470233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4F086-BB60-5B93-24A1-3481A36A4B18}"/>
              </a:ext>
            </a:extLst>
          </p:cNvPr>
          <p:cNvSpPr txBox="1"/>
          <p:nvPr/>
        </p:nvSpPr>
        <p:spPr>
          <a:xfrm>
            <a:off x="7221016" y="1641054"/>
            <a:ext cx="25223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Cell in this turn need flip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41733F-D30E-BCD0-7D00-E1A08238FE62}"/>
              </a:ext>
            </a:extLst>
          </p:cNvPr>
          <p:cNvCxnSpPr>
            <a:cxnSpLocks/>
          </p:cNvCxnSpPr>
          <p:nvPr/>
        </p:nvCxnSpPr>
        <p:spPr>
          <a:xfrm>
            <a:off x="8885582" y="1959770"/>
            <a:ext cx="1020305" cy="411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35">
            <a:extLst>
              <a:ext uri="{FF2B5EF4-FFF2-40B4-BE49-F238E27FC236}">
                <a16:creationId xmlns:a16="http://schemas.microsoft.com/office/drawing/2014/main" id="{158413B6-E750-994C-DA3A-5F25BC3C36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6076380"/>
              </p:ext>
            </p:extLst>
          </p:nvPr>
        </p:nvGraphicFramePr>
        <p:xfrm>
          <a:off x="0" y="2722577"/>
          <a:ext cx="6464300" cy="88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75">
                  <a:extLst>
                    <a:ext uri="{9D8B030D-6E8A-4147-A177-3AD203B41FA5}">
                      <a16:colId xmlns:a16="http://schemas.microsoft.com/office/drawing/2014/main" val="409582118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563065861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2204987820"/>
                    </a:ext>
                  </a:extLst>
                </a:gridCol>
                <a:gridCol w="1616075">
                  <a:extLst>
                    <a:ext uri="{9D8B030D-6E8A-4147-A177-3AD203B41FA5}">
                      <a16:colId xmlns:a16="http://schemas.microsoft.com/office/drawing/2014/main" val="1979374447"/>
                    </a:ext>
                  </a:extLst>
                </a:gridCol>
              </a:tblGrid>
              <a:tr h="8858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581366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CB0672-EB4C-D5F9-AC5E-D1B81E732F96}"/>
              </a:ext>
            </a:extLst>
          </p:cNvPr>
          <p:cNvCxnSpPr/>
          <p:nvPr/>
        </p:nvCxnSpPr>
        <p:spPr>
          <a:xfrm>
            <a:off x="809914" y="2722577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BE3DB2-E0A9-002D-8F35-36D3DAE95E25}"/>
              </a:ext>
            </a:extLst>
          </p:cNvPr>
          <p:cNvCxnSpPr/>
          <p:nvPr/>
        </p:nvCxnSpPr>
        <p:spPr>
          <a:xfrm>
            <a:off x="2443019" y="2722577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789C0E-FC15-7DA8-BE3F-DF34EB0FD8F3}"/>
              </a:ext>
            </a:extLst>
          </p:cNvPr>
          <p:cNvCxnSpPr/>
          <p:nvPr/>
        </p:nvCxnSpPr>
        <p:spPr>
          <a:xfrm>
            <a:off x="4044951" y="2722577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573BD-E127-9797-A272-F89C7421904D}"/>
              </a:ext>
            </a:extLst>
          </p:cNvPr>
          <p:cNvCxnSpPr/>
          <p:nvPr/>
        </p:nvCxnSpPr>
        <p:spPr>
          <a:xfrm>
            <a:off x="5671128" y="2722577"/>
            <a:ext cx="0" cy="8858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E95427-EA1A-E78A-3FD9-2D7D5D95BF81}"/>
              </a:ext>
            </a:extLst>
          </p:cNvPr>
          <p:cNvSpPr txBox="1"/>
          <p:nvPr/>
        </p:nvSpPr>
        <p:spPr>
          <a:xfrm>
            <a:off x="472209" y="4867291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7A2393-4732-2B4D-220B-2C9FE6027A58}"/>
              </a:ext>
            </a:extLst>
          </p:cNvPr>
          <p:cNvSpPr txBox="1"/>
          <p:nvPr/>
        </p:nvSpPr>
        <p:spPr>
          <a:xfrm>
            <a:off x="2266373" y="4837564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1B4CCD-F4E6-3C1B-C840-56470387B434}"/>
              </a:ext>
            </a:extLst>
          </p:cNvPr>
          <p:cNvSpPr txBox="1"/>
          <p:nvPr/>
        </p:nvSpPr>
        <p:spPr>
          <a:xfrm>
            <a:off x="3921126" y="4884898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D5FA7E-6ACC-F362-A7EC-700A567E434D}"/>
              </a:ext>
            </a:extLst>
          </p:cNvPr>
          <p:cNvSpPr txBox="1"/>
          <p:nvPr/>
        </p:nvSpPr>
        <p:spPr>
          <a:xfrm>
            <a:off x="5686715" y="4851280"/>
            <a:ext cx="6754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worker4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150717-F036-929E-BD71-E56CA7CD8A97}"/>
              </a:ext>
            </a:extLst>
          </p:cNvPr>
          <p:cNvCxnSpPr/>
          <p:nvPr/>
        </p:nvCxnSpPr>
        <p:spPr>
          <a:xfrm flipV="1">
            <a:off x="809913" y="4448910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A9723E-6166-6153-70F2-0984DB59B729}"/>
              </a:ext>
            </a:extLst>
          </p:cNvPr>
          <p:cNvCxnSpPr/>
          <p:nvPr/>
        </p:nvCxnSpPr>
        <p:spPr>
          <a:xfrm flipV="1">
            <a:off x="2520949" y="4448910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F6255F-153E-806A-0C59-05AFD93B47BF}"/>
              </a:ext>
            </a:extLst>
          </p:cNvPr>
          <p:cNvCxnSpPr/>
          <p:nvPr/>
        </p:nvCxnSpPr>
        <p:spPr>
          <a:xfrm flipV="1">
            <a:off x="4258830" y="4448910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57F979A-F8E4-C735-7901-D15D0A6449B4}"/>
              </a:ext>
            </a:extLst>
          </p:cNvPr>
          <p:cNvCxnSpPr/>
          <p:nvPr/>
        </p:nvCxnSpPr>
        <p:spPr>
          <a:xfrm flipV="1">
            <a:off x="6027080" y="4410464"/>
            <a:ext cx="0" cy="327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E33C98D-30E0-4E31-6FB4-4B8202C15F43}"/>
              </a:ext>
            </a:extLst>
          </p:cNvPr>
          <p:cNvSpPr txBox="1"/>
          <p:nvPr/>
        </p:nvSpPr>
        <p:spPr>
          <a:xfrm>
            <a:off x="9793618" y="426445"/>
            <a:ext cx="1877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turn(Turn N)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75442F-BD31-09D0-F5DC-B654A09C59E9}"/>
              </a:ext>
            </a:extLst>
          </p:cNvPr>
          <p:cNvCxnSpPr>
            <a:cxnSpLocks/>
          </p:cNvCxnSpPr>
          <p:nvPr/>
        </p:nvCxnSpPr>
        <p:spPr>
          <a:xfrm>
            <a:off x="6860875" y="3140015"/>
            <a:ext cx="23348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BC0EDAD-45E0-5780-B7C5-092343055C2B}"/>
              </a:ext>
            </a:extLst>
          </p:cNvPr>
          <p:cNvSpPr txBox="1"/>
          <p:nvPr/>
        </p:nvSpPr>
        <p:spPr>
          <a:xfrm>
            <a:off x="1035997" y="1056382"/>
            <a:ext cx="1885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Distributor send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421A1E-E086-2ADE-7DB8-D96912C04B5B}"/>
              </a:ext>
            </a:extLst>
          </p:cNvPr>
          <p:cNvSpPr txBox="1"/>
          <p:nvPr/>
        </p:nvSpPr>
        <p:spPr>
          <a:xfrm>
            <a:off x="7049188" y="3300149"/>
            <a:ext cx="24803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worker will determine this cell flip or not by checking it surrounding and return a slice which contain the cell need to flip in this turn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6070F-5ED8-41F3-700C-AC46C702C4D3}"/>
              </a:ext>
            </a:extLst>
          </p:cNvPr>
          <p:cNvSpPr txBox="1"/>
          <p:nvPr/>
        </p:nvSpPr>
        <p:spPr>
          <a:xfrm>
            <a:off x="20248" y="1665162"/>
            <a:ext cx="45317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 Cell which is the </a:t>
            </a:r>
            <a:r>
              <a:rPr lang="en-US" sz="1500" dirty="0" err="1"/>
              <a:t>neighbour</a:t>
            </a:r>
            <a:r>
              <a:rPr lang="en-US" sz="1500" dirty="0"/>
              <a:t> of last turn flipped cell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E8836C-831E-EA23-EFFF-3E221924FC7A}"/>
              </a:ext>
            </a:extLst>
          </p:cNvPr>
          <p:cNvCxnSpPr>
            <a:cxnSpLocks/>
          </p:cNvCxnSpPr>
          <p:nvPr/>
        </p:nvCxnSpPr>
        <p:spPr>
          <a:xfrm>
            <a:off x="567042" y="1992315"/>
            <a:ext cx="0" cy="1095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42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85185E-6 L -0.37682 -0.179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41" y="-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-0.30976 -0.285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95" y="-1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0044 L -0.24531 -0.3983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66" y="-2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2.22222E-6 L -0.18698 -0.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62" y="-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0C28-0FFE-8408-C54D-468DA87D9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21294"/>
            <a:ext cx="2489200" cy="454025"/>
          </a:xfrm>
        </p:spPr>
        <p:txBody>
          <a:bodyPr>
            <a:normAutofit/>
          </a:bodyPr>
          <a:lstStyle/>
          <a:p>
            <a:r>
              <a:rPr lang="en-US" sz="2000" dirty="0"/>
              <a:t>Graph and analyze</a:t>
            </a:r>
          </a:p>
        </p:txBody>
      </p:sp>
      <p:pic>
        <p:nvPicPr>
          <p:cNvPr id="6" name="Content Placeholder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1D1777C-592B-A1EE-F067-CA3810842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17" y="1204686"/>
            <a:ext cx="7869965" cy="4950720"/>
          </a:xfrm>
        </p:spPr>
      </p:pic>
    </p:spTree>
    <p:extLst>
      <p:ext uri="{BB962C8B-B14F-4D97-AF65-F5344CB8AC3E}">
        <p14:creationId xmlns:p14="http://schemas.microsoft.com/office/powerpoint/2010/main" val="2744695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9112-7D38-D914-EE3D-863B9EBB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-85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/>
              <a:t>Process of develop</a:t>
            </a:r>
          </a:p>
        </p:txBody>
      </p:sp>
      <p:pic>
        <p:nvPicPr>
          <p:cNvPr id="8" name="Content Placeholder 7" descr="A graph of a graph&#10;&#10;AI-generated content may be incorrect.">
            <a:extLst>
              <a:ext uri="{FF2B5EF4-FFF2-40B4-BE49-F238E27FC236}">
                <a16:creationId xmlns:a16="http://schemas.microsoft.com/office/drawing/2014/main" id="{DB542C66-F550-C47B-184F-DA4CAA3F6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321" y="1455389"/>
            <a:ext cx="5955622" cy="3192381"/>
          </a:xfrm>
        </p:spPr>
      </p:pic>
      <p:pic>
        <p:nvPicPr>
          <p:cNvPr id="4" name="Picture 3" descr="A graph with blue lines&#10;&#10;AI-generated content may be incorrect.">
            <a:extLst>
              <a:ext uri="{FF2B5EF4-FFF2-40B4-BE49-F238E27FC236}">
                <a16:creationId xmlns:a16="http://schemas.microsoft.com/office/drawing/2014/main" id="{07129682-E72E-2C6E-10BB-6A8821758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074" y="1150815"/>
            <a:ext cx="6311395" cy="3496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979F06-B100-B8D0-7157-AD44F60ACEFD}"/>
              </a:ext>
            </a:extLst>
          </p:cNvPr>
          <p:cNvSpPr txBox="1"/>
          <p:nvPr/>
        </p:nvSpPr>
        <p:spPr>
          <a:xfrm>
            <a:off x="625957" y="4894435"/>
            <a:ext cx="112267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Version1: parallel workers with counting neighbour in every worker</a:t>
            </a:r>
            <a:endParaRPr lang="en-US" dirty="0"/>
          </a:p>
          <a:p>
            <a:r>
              <a:rPr lang="en-GB" b="1" dirty="0"/>
              <a:t>Version2: Parallel workers with enhanced io </a:t>
            </a:r>
            <a:endParaRPr lang="en-US" dirty="0"/>
          </a:p>
          <a:p>
            <a:r>
              <a:rPr lang="en-GB" b="1" dirty="0"/>
              <a:t>Version3: Parallel workers with counting flipped neighbour cell in each worker(relative improvement</a:t>
            </a:r>
            <a:r>
              <a:rPr lang="en-GB" b="1" dirty="0">
                <a:sym typeface="Wingdings" panose="05000000000000000000" pitchFamily="2" charset="2"/>
              </a:rPr>
              <a:t>(88%)</a:t>
            </a:r>
            <a:r>
              <a:rPr lang="en-GB" b="1" dirty="0"/>
              <a:t>)</a:t>
            </a:r>
            <a:endParaRPr lang="en-US" dirty="0"/>
          </a:p>
          <a:p>
            <a:r>
              <a:rPr lang="en-GB" b="1" dirty="0"/>
              <a:t>Version4: Parallel workers with efficient use of slice</a:t>
            </a:r>
            <a:endParaRPr lang="en-US" dirty="0"/>
          </a:p>
          <a:p>
            <a:r>
              <a:rPr lang="en-GB" b="1" dirty="0"/>
              <a:t>Final version: Parallel workers excludes “</a:t>
            </a:r>
            <a:r>
              <a:rPr lang="en-GB" b="1" dirty="0" err="1"/>
              <a:t>calcchunk</a:t>
            </a:r>
            <a:r>
              <a:rPr lang="en-GB" b="1" dirty="0"/>
              <a:t>” function and substitute mutex lock from IO channel.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72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lowchart">
            <a:extLst>
              <a:ext uri="{FF2B5EF4-FFF2-40B4-BE49-F238E27FC236}">
                <a16:creationId xmlns:a16="http://schemas.microsoft.com/office/drawing/2014/main" id="{EE288659-9267-1EA9-F50A-A9D6D9E88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370" y="1472241"/>
            <a:ext cx="5474369" cy="3429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27E101-96CA-8595-899B-5E2A44F09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23" y="1674737"/>
            <a:ext cx="6303020" cy="3357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0C6C25-08FC-DDFE-A035-261BF82F99CD}"/>
              </a:ext>
            </a:extLst>
          </p:cNvPr>
          <p:cNvSpPr txBox="1"/>
          <p:nvPr/>
        </p:nvSpPr>
        <p:spPr>
          <a:xfrm>
            <a:off x="713117" y="5550971"/>
            <a:ext cx="3840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getneighbors</a:t>
            </a:r>
            <a:r>
              <a:rPr lang="en-US" dirty="0"/>
              <a:t> function in each worker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1B617-6E70-E98A-2EB8-CC1B8DDD89B0}"/>
              </a:ext>
            </a:extLst>
          </p:cNvPr>
          <p:cNvSpPr txBox="1"/>
          <p:nvPr/>
        </p:nvSpPr>
        <p:spPr>
          <a:xfrm>
            <a:off x="7085163" y="5550971"/>
            <a:ext cx="366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getneighbors</a:t>
            </a:r>
            <a:r>
              <a:rPr lang="en-US" dirty="0"/>
              <a:t> function in distributor</a:t>
            </a:r>
          </a:p>
        </p:txBody>
      </p:sp>
    </p:spTree>
    <p:extLst>
      <p:ext uri="{BB962C8B-B14F-4D97-AF65-F5344CB8AC3E}">
        <p14:creationId xmlns:p14="http://schemas.microsoft.com/office/powerpoint/2010/main" val="375794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805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5770-06F1-B624-9C02-2739E05E3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06419" cy="1153124"/>
          </a:xfrm>
        </p:spPr>
        <p:txBody>
          <a:bodyPr>
            <a:normAutofit/>
          </a:bodyPr>
          <a:lstStyle/>
          <a:p>
            <a:r>
              <a:rPr lang="en-US" sz="2000" dirty="0"/>
              <a:t>Distributed Implementation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46E2BFCE-1F1C-B77C-CFB4-CA7A806EC2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411523"/>
            <a:ext cx="9842500" cy="5081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01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AF376298-35D1-C23B-8771-78BDA90A5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469012"/>
              </p:ext>
            </p:extLst>
          </p:nvPr>
        </p:nvGraphicFramePr>
        <p:xfrm>
          <a:off x="4020921" y="1739789"/>
          <a:ext cx="3659040" cy="3378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60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848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8C3DCA-A693-5D17-97FB-702C429F0016}"/>
              </a:ext>
            </a:extLst>
          </p:cNvPr>
          <p:cNvSpPr txBox="1"/>
          <p:nvPr/>
        </p:nvSpPr>
        <p:spPr>
          <a:xfrm>
            <a:off x="5361709" y="592281"/>
            <a:ext cx="78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DAEC4-34BA-7EF7-4FB3-FBD969F50452}"/>
              </a:ext>
            </a:extLst>
          </p:cNvPr>
          <p:cNvSpPr txBox="1"/>
          <p:nvPr/>
        </p:nvSpPr>
        <p:spPr>
          <a:xfrm>
            <a:off x="145473" y="222949"/>
            <a:ext cx="2501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Distributed Adjustment</a:t>
            </a:r>
          </a:p>
        </p:txBody>
      </p:sp>
    </p:spTree>
    <p:extLst>
      <p:ext uri="{BB962C8B-B14F-4D97-AF65-F5344CB8AC3E}">
        <p14:creationId xmlns:p14="http://schemas.microsoft.com/office/powerpoint/2010/main" val="580265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1B66-500A-F2E8-04F0-0AD8D6F0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68287E3-5671-81E0-924D-743C7EC5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818049"/>
              </p:ext>
            </p:extLst>
          </p:nvPr>
        </p:nvGraphicFramePr>
        <p:xfrm>
          <a:off x="545162" y="1950204"/>
          <a:ext cx="3659040" cy="3378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60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848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FA21CBC-5FBC-7839-A8C4-470A44972B7B}"/>
              </a:ext>
            </a:extLst>
          </p:cNvPr>
          <p:cNvSpPr txBox="1"/>
          <p:nvPr/>
        </p:nvSpPr>
        <p:spPr>
          <a:xfrm>
            <a:off x="6797843" y="14873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62312A-9F04-21BC-5699-648EC1B46FE9}"/>
              </a:ext>
            </a:extLst>
          </p:cNvPr>
          <p:cNvSpPr txBox="1"/>
          <p:nvPr/>
        </p:nvSpPr>
        <p:spPr>
          <a:xfrm>
            <a:off x="5858263" y="2791887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7B0F9-3ACF-5BE8-1D78-0EF55C814D0E}"/>
              </a:ext>
            </a:extLst>
          </p:cNvPr>
          <p:cNvSpPr txBox="1"/>
          <p:nvPr/>
        </p:nvSpPr>
        <p:spPr>
          <a:xfrm>
            <a:off x="7408718" y="690995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Worker1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7DA1F2-FA12-3473-89E0-D69113A40231}"/>
              </a:ext>
            </a:extLst>
          </p:cNvPr>
          <p:cNvSpPr txBox="1"/>
          <p:nvPr/>
        </p:nvSpPr>
        <p:spPr>
          <a:xfrm>
            <a:off x="7408718" y="3902822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Worker2</a:t>
            </a: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5E07391D-DB75-DBFA-41E5-B96CEE538D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6817916"/>
              </p:ext>
            </p:extLst>
          </p:nvPr>
        </p:nvGraphicFramePr>
        <p:xfrm>
          <a:off x="6764292" y="1263536"/>
          <a:ext cx="2305412" cy="2375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53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576353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576353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576353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5930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59671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5930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5930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281240-C993-EC88-1C82-AAB32FC95566}"/>
              </a:ext>
            </a:extLst>
          </p:cNvPr>
          <p:cNvSpPr txBox="1"/>
          <p:nvPr/>
        </p:nvSpPr>
        <p:spPr>
          <a:xfrm>
            <a:off x="10032423" y="1548245"/>
            <a:ext cx="1218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Startrow:0</a:t>
            </a:r>
          </a:p>
          <a:p>
            <a:r>
              <a:rPr lang="en-US" dirty="0" err="1"/>
              <a:t>Endrow</a:t>
            </a:r>
            <a:r>
              <a:rPr lang="en-US" dirty="0"/>
              <a:t>: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9C522-6502-3EE3-C488-9BA95E737DFA}"/>
              </a:ext>
            </a:extLst>
          </p:cNvPr>
          <p:cNvSpPr txBox="1"/>
          <p:nvPr/>
        </p:nvSpPr>
        <p:spPr>
          <a:xfrm>
            <a:off x="10134834" y="4734791"/>
            <a:ext cx="1218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Startrow:2</a:t>
            </a:r>
          </a:p>
          <a:p>
            <a:r>
              <a:rPr lang="en-US" dirty="0"/>
              <a:t>Endrow:3</a:t>
            </a:r>
          </a:p>
        </p:txBody>
      </p:sp>
      <p:graphicFrame>
        <p:nvGraphicFramePr>
          <p:cNvPr id="12" name="Content Placeholder 6">
            <a:extLst>
              <a:ext uri="{FF2B5EF4-FFF2-40B4-BE49-F238E27FC236}">
                <a16:creationId xmlns:a16="http://schemas.microsoft.com/office/drawing/2014/main" id="{086ABE49-7E9B-AE73-5D5D-D0992FD3CE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329256"/>
              </p:ext>
            </p:extLst>
          </p:nvPr>
        </p:nvGraphicFramePr>
        <p:xfrm>
          <a:off x="6764291" y="4391802"/>
          <a:ext cx="2305412" cy="221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353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576353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576353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576353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5520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5554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5520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5520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C3A3D68-253E-14E9-1D25-498613143315}"/>
              </a:ext>
            </a:extLst>
          </p:cNvPr>
          <p:cNvSpPr txBox="1"/>
          <p:nvPr/>
        </p:nvSpPr>
        <p:spPr>
          <a:xfrm>
            <a:off x="1911928" y="1118035"/>
            <a:ext cx="83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D906DE-B1E8-4C71-C7DE-69E0DDB8B417}"/>
              </a:ext>
            </a:extLst>
          </p:cNvPr>
          <p:cNvCxnSpPr>
            <a:cxnSpLocks/>
          </p:cNvCxnSpPr>
          <p:nvPr/>
        </p:nvCxnSpPr>
        <p:spPr>
          <a:xfrm flipV="1">
            <a:off x="5060373" y="2862695"/>
            <a:ext cx="1075459" cy="529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9702C7-FF2E-E79C-55C2-4E0F3F01BD25}"/>
              </a:ext>
            </a:extLst>
          </p:cNvPr>
          <p:cNvCxnSpPr>
            <a:cxnSpLocks/>
          </p:cNvCxnSpPr>
          <p:nvPr/>
        </p:nvCxnSpPr>
        <p:spPr>
          <a:xfrm>
            <a:off x="5062748" y="3429000"/>
            <a:ext cx="1168978" cy="1415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635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90903-CA2B-E2A9-BD04-F212383C4704}"/>
              </a:ext>
            </a:extLst>
          </p:cNvPr>
          <p:cNvSpPr txBox="1"/>
          <p:nvPr/>
        </p:nvSpPr>
        <p:spPr>
          <a:xfrm>
            <a:off x="760959" y="12769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3B1C3-A223-001E-F2EC-3C1B1040D88F}"/>
              </a:ext>
            </a:extLst>
          </p:cNvPr>
          <p:cNvSpPr txBox="1"/>
          <p:nvPr/>
        </p:nvSpPr>
        <p:spPr>
          <a:xfrm>
            <a:off x="-178621" y="2581472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C82FEA-E3F5-481E-FBCC-61B0A2303D01}"/>
              </a:ext>
            </a:extLst>
          </p:cNvPr>
          <p:cNvSpPr txBox="1"/>
          <p:nvPr/>
        </p:nvSpPr>
        <p:spPr>
          <a:xfrm>
            <a:off x="1371834" y="480580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Worker1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D0B72-83D4-0E7A-A0A0-9179B66E5AB3}"/>
              </a:ext>
            </a:extLst>
          </p:cNvPr>
          <p:cNvSpPr txBox="1"/>
          <p:nvPr/>
        </p:nvSpPr>
        <p:spPr>
          <a:xfrm>
            <a:off x="1371834" y="3692407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Worker2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05F47-34E2-B42F-E046-C9001F23C10A}"/>
              </a:ext>
            </a:extLst>
          </p:cNvPr>
          <p:cNvSpPr txBox="1"/>
          <p:nvPr/>
        </p:nvSpPr>
        <p:spPr>
          <a:xfrm>
            <a:off x="3325325" y="1836593"/>
            <a:ext cx="1218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Startrow:0</a:t>
            </a:r>
          </a:p>
          <a:p>
            <a:r>
              <a:rPr lang="en-US" dirty="0" err="1"/>
              <a:t>Endrow</a:t>
            </a:r>
            <a:r>
              <a:rPr lang="en-US" dirty="0"/>
              <a:t>: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85A1F1-F0F9-7E59-9429-88677B7E5D86}"/>
              </a:ext>
            </a:extLst>
          </p:cNvPr>
          <p:cNvSpPr txBox="1"/>
          <p:nvPr/>
        </p:nvSpPr>
        <p:spPr>
          <a:xfrm>
            <a:off x="3271873" y="4964031"/>
            <a:ext cx="1218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Startrow:2</a:t>
            </a:r>
          </a:p>
          <a:p>
            <a:r>
              <a:rPr lang="en-US" dirty="0"/>
              <a:t>Endrow:3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4FB100-649D-53DA-45D3-198255A3C1C8}"/>
              </a:ext>
            </a:extLst>
          </p:cNvPr>
          <p:cNvCxnSpPr>
            <a:cxnSpLocks/>
          </p:cNvCxnSpPr>
          <p:nvPr/>
        </p:nvCxnSpPr>
        <p:spPr>
          <a:xfrm>
            <a:off x="5107132" y="2041814"/>
            <a:ext cx="1283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BE63B23-B81D-AFEC-CDE4-AEC848A74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71705"/>
              </p:ext>
            </p:extLst>
          </p:nvPr>
        </p:nvGraphicFramePr>
        <p:xfrm>
          <a:off x="6723495" y="1461618"/>
          <a:ext cx="1004218" cy="1467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109">
                  <a:extLst>
                    <a:ext uri="{9D8B030D-6E8A-4147-A177-3AD203B41FA5}">
                      <a16:colId xmlns:a16="http://schemas.microsoft.com/office/drawing/2014/main" val="1245200530"/>
                    </a:ext>
                  </a:extLst>
                </a:gridCol>
                <a:gridCol w="502109">
                  <a:extLst>
                    <a:ext uri="{9D8B030D-6E8A-4147-A177-3AD203B41FA5}">
                      <a16:colId xmlns:a16="http://schemas.microsoft.com/office/drawing/2014/main" val="318820294"/>
                    </a:ext>
                  </a:extLst>
                </a:gridCol>
              </a:tblGrid>
              <a:tr h="478612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337708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207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3786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B794EC2-87C6-4380-A8D7-ED4D64EF5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068240"/>
              </p:ext>
            </p:extLst>
          </p:nvPr>
        </p:nvGraphicFramePr>
        <p:xfrm>
          <a:off x="6743700" y="4317405"/>
          <a:ext cx="984013" cy="1939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904">
                  <a:extLst>
                    <a:ext uri="{9D8B030D-6E8A-4147-A177-3AD203B41FA5}">
                      <a16:colId xmlns:a16="http://schemas.microsoft.com/office/drawing/2014/main" val="1245200530"/>
                    </a:ext>
                  </a:extLst>
                </a:gridCol>
                <a:gridCol w="502109">
                  <a:extLst>
                    <a:ext uri="{9D8B030D-6E8A-4147-A177-3AD203B41FA5}">
                      <a16:colId xmlns:a16="http://schemas.microsoft.com/office/drawing/2014/main" val="318820294"/>
                    </a:ext>
                  </a:extLst>
                </a:gridCol>
              </a:tblGrid>
              <a:tr h="456376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337708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207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85672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37863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1F9FF6-1240-FF1A-8A0E-1646267869E7}"/>
              </a:ext>
            </a:extLst>
          </p:cNvPr>
          <p:cNvCxnSpPr>
            <a:cxnSpLocks/>
          </p:cNvCxnSpPr>
          <p:nvPr/>
        </p:nvCxnSpPr>
        <p:spPr>
          <a:xfrm>
            <a:off x="4812723" y="5309710"/>
            <a:ext cx="1283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07AE6B1-400B-F3CF-E871-BAFEC98DB8F3}"/>
              </a:ext>
            </a:extLst>
          </p:cNvPr>
          <p:cNvSpPr txBox="1"/>
          <p:nvPr/>
        </p:nvSpPr>
        <p:spPr>
          <a:xfrm>
            <a:off x="5851894" y="683789"/>
            <a:ext cx="232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back to Broker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1A1464-0A3C-BFE1-F10B-B48BD660FF38}"/>
              </a:ext>
            </a:extLst>
          </p:cNvPr>
          <p:cNvSpPr txBox="1"/>
          <p:nvPr/>
        </p:nvSpPr>
        <p:spPr>
          <a:xfrm>
            <a:off x="10023997" y="683789"/>
            <a:ext cx="83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762ADF8-1EAA-CECE-CB53-323B6ADAD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23139"/>
              </p:ext>
            </p:extLst>
          </p:nvPr>
        </p:nvGraphicFramePr>
        <p:xfrm>
          <a:off x="10258616" y="2595127"/>
          <a:ext cx="7821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65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91065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29061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1A792BDB-EC5D-C5D2-5068-7E4E97848D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568421"/>
              </p:ext>
            </p:extLst>
          </p:nvPr>
        </p:nvGraphicFramePr>
        <p:xfrm>
          <a:off x="919579" y="1103521"/>
          <a:ext cx="2231660" cy="228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15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569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5730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569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569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graphicFrame>
        <p:nvGraphicFramePr>
          <p:cNvPr id="28" name="Content Placeholder 6">
            <a:extLst>
              <a:ext uri="{FF2B5EF4-FFF2-40B4-BE49-F238E27FC236}">
                <a16:creationId xmlns:a16="http://schemas.microsoft.com/office/drawing/2014/main" id="{5F97D412-A154-9F35-CD62-56F39B209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1951992"/>
              </p:ext>
            </p:extLst>
          </p:nvPr>
        </p:nvGraphicFramePr>
        <p:xfrm>
          <a:off x="890592" y="4212135"/>
          <a:ext cx="2231660" cy="228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15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569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5730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569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5694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A671C55E-DC1D-40DF-6FCD-E1159DEC721E}"/>
              </a:ext>
            </a:extLst>
          </p:cNvPr>
          <p:cNvSpPr txBox="1"/>
          <p:nvPr/>
        </p:nvSpPr>
        <p:spPr>
          <a:xfrm>
            <a:off x="5798704" y="3416188"/>
            <a:ext cx="30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that need flip in this turn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A3F641-AB8C-6E21-1759-FDE1E1394223}"/>
              </a:ext>
            </a:extLst>
          </p:cNvPr>
          <p:cNvCxnSpPr>
            <a:cxnSpLocks/>
          </p:cNvCxnSpPr>
          <p:nvPr/>
        </p:nvCxnSpPr>
        <p:spPr>
          <a:xfrm flipV="1">
            <a:off x="7216945" y="2950804"/>
            <a:ext cx="0" cy="54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4CAF05D-E98B-6772-F0DD-F665468BBAD5}"/>
              </a:ext>
            </a:extLst>
          </p:cNvPr>
          <p:cNvCxnSpPr>
            <a:cxnSpLocks/>
          </p:cNvCxnSpPr>
          <p:nvPr/>
        </p:nvCxnSpPr>
        <p:spPr>
          <a:xfrm>
            <a:off x="7235706" y="3692407"/>
            <a:ext cx="0" cy="52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75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3ACCD6-7E24-78E7-2CF9-301F454DA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862970"/>
              </p:ext>
            </p:extLst>
          </p:nvPr>
        </p:nvGraphicFramePr>
        <p:xfrm>
          <a:off x="6832023" y="3832563"/>
          <a:ext cx="3253028" cy="298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257">
                  <a:extLst>
                    <a:ext uri="{9D8B030D-6E8A-4147-A177-3AD203B41FA5}">
                      <a16:colId xmlns:a16="http://schemas.microsoft.com/office/drawing/2014/main" val="1754552195"/>
                    </a:ext>
                  </a:extLst>
                </a:gridCol>
                <a:gridCol w="813257">
                  <a:extLst>
                    <a:ext uri="{9D8B030D-6E8A-4147-A177-3AD203B41FA5}">
                      <a16:colId xmlns:a16="http://schemas.microsoft.com/office/drawing/2014/main" val="527164137"/>
                    </a:ext>
                  </a:extLst>
                </a:gridCol>
                <a:gridCol w="813257">
                  <a:extLst>
                    <a:ext uri="{9D8B030D-6E8A-4147-A177-3AD203B41FA5}">
                      <a16:colId xmlns:a16="http://schemas.microsoft.com/office/drawing/2014/main" val="3854259705"/>
                    </a:ext>
                  </a:extLst>
                </a:gridCol>
                <a:gridCol w="813257">
                  <a:extLst>
                    <a:ext uri="{9D8B030D-6E8A-4147-A177-3AD203B41FA5}">
                      <a16:colId xmlns:a16="http://schemas.microsoft.com/office/drawing/2014/main" val="2972758274"/>
                    </a:ext>
                  </a:extLst>
                </a:gridCol>
              </a:tblGrid>
              <a:tr h="7444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68480"/>
                  </a:ext>
                </a:extLst>
              </a:tr>
              <a:tr h="7489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41855"/>
                  </a:ext>
                </a:extLst>
              </a:tr>
              <a:tr h="7444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383756"/>
                  </a:ext>
                </a:extLst>
              </a:tr>
              <a:tr h="7444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88979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65D3CA-D118-2B6D-9CC3-415B509CA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13259"/>
              </p:ext>
            </p:extLst>
          </p:nvPr>
        </p:nvGraphicFramePr>
        <p:xfrm>
          <a:off x="1514667" y="2200272"/>
          <a:ext cx="7821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65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91065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29061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E01997-B0EB-5CF7-2CB9-6F8CFA9F7BB5}"/>
              </a:ext>
            </a:extLst>
          </p:cNvPr>
          <p:cNvCxnSpPr>
            <a:cxnSpLocks/>
          </p:cNvCxnSpPr>
          <p:nvPr/>
        </p:nvCxnSpPr>
        <p:spPr>
          <a:xfrm>
            <a:off x="3543300" y="3164032"/>
            <a:ext cx="3070514" cy="1662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51B15B-8BD2-213F-DA22-3067DC512D48}"/>
              </a:ext>
            </a:extLst>
          </p:cNvPr>
          <p:cNvCxnSpPr>
            <a:cxnSpLocks/>
          </p:cNvCxnSpPr>
          <p:nvPr/>
        </p:nvCxnSpPr>
        <p:spPr>
          <a:xfrm flipV="1">
            <a:off x="3543300" y="1385455"/>
            <a:ext cx="2341418" cy="1778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0B6912-226A-4BD9-C599-6907D61DF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81148"/>
              </p:ext>
            </p:extLst>
          </p:nvPr>
        </p:nvGraphicFramePr>
        <p:xfrm>
          <a:off x="7418435" y="587955"/>
          <a:ext cx="7821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65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91065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17074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C1B8522-7B15-3F3C-FCB9-6F47DFDD2500}"/>
              </a:ext>
            </a:extLst>
          </p:cNvPr>
          <p:cNvSpPr txBox="1"/>
          <p:nvPr/>
        </p:nvSpPr>
        <p:spPr>
          <a:xfrm>
            <a:off x="582468" y="1385455"/>
            <a:ext cx="30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that need flip in this turn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184AFC-A86F-462B-105C-B60F7BA82631}"/>
              </a:ext>
            </a:extLst>
          </p:cNvPr>
          <p:cNvSpPr txBox="1"/>
          <p:nvPr/>
        </p:nvSpPr>
        <p:spPr>
          <a:xfrm>
            <a:off x="5582191" y="43245"/>
            <a:ext cx="4454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Neighbour</a:t>
            </a:r>
            <a:r>
              <a:rPr lang="en-US" dirty="0"/>
              <a:t> of Cell that need flip in this turn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B46672-987A-F260-CEC3-3A9D35640AFA}"/>
              </a:ext>
            </a:extLst>
          </p:cNvPr>
          <p:cNvSpPr txBox="1"/>
          <p:nvPr/>
        </p:nvSpPr>
        <p:spPr>
          <a:xfrm>
            <a:off x="564476" y="227911"/>
            <a:ext cx="83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D19AEF-EF7F-25FD-E2DD-A3E055F96825}"/>
              </a:ext>
            </a:extLst>
          </p:cNvPr>
          <p:cNvSpPr txBox="1"/>
          <p:nvPr/>
        </p:nvSpPr>
        <p:spPr>
          <a:xfrm>
            <a:off x="8702387" y="1185400"/>
            <a:ext cx="6463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D7CD27-0468-49D2-9ABE-B82993FE52F1}"/>
              </a:ext>
            </a:extLst>
          </p:cNvPr>
          <p:cNvSpPr txBox="1"/>
          <p:nvPr/>
        </p:nvSpPr>
        <p:spPr>
          <a:xfrm>
            <a:off x="7217860" y="3186006"/>
            <a:ext cx="1965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to the world</a:t>
            </a:r>
          </a:p>
        </p:txBody>
      </p:sp>
    </p:spTree>
    <p:extLst>
      <p:ext uri="{BB962C8B-B14F-4D97-AF65-F5344CB8AC3E}">
        <p14:creationId xmlns:p14="http://schemas.microsoft.com/office/powerpoint/2010/main" val="179692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D2A7EDE5-EE9B-8B11-D81B-FFBC28CB7F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863759"/>
              </p:ext>
            </p:extLst>
          </p:nvPr>
        </p:nvGraphicFramePr>
        <p:xfrm>
          <a:off x="2218099" y="1739789"/>
          <a:ext cx="3659040" cy="3378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60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914760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8485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8433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5DFA54-1E81-51E0-6A18-C641365DF12C}"/>
              </a:ext>
            </a:extLst>
          </p:cNvPr>
          <p:cNvSpPr txBox="1"/>
          <p:nvPr/>
        </p:nvSpPr>
        <p:spPr>
          <a:xfrm>
            <a:off x="5462666" y="456256"/>
            <a:ext cx="828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13E3EA-7EF7-7D21-BAB6-4AA77E233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999506"/>
              </p:ext>
            </p:extLst>
          </p:nvPr>
        </p:nvGraphicFramePr>
        <p:xfrm>
          <a:off x="9245502" y="2331720"/>
          <a:ext cx="7821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65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91065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17074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416045-19C5-9235-7C99-1CFE19C43983}"/>
              </a:ext>
            </a:extLst>
          </p:cNvPr>
          <p:cNvSpPr txBox="1"/>
          <p:nvPr/>
        </p:nvSpPr>
        <p:spPr>
          <a:xfrm>
            <a:off x="7081944" y="1598411"/>
            <a:ext cx="436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Neighbour</a:t>
            </a:r>
            <a:r>
              <a:rPr lang="en-US" dirty="0"/>
              <a:t> of Cell that need flip in last turn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A7133D-A376-2E04-DB93-E2207810A640}"/>
              </a:ext>
            </a:extLst>
          </p:cNvPr>
          <p:cNvSpPr txBox="1"/>
          <p:nvPr/>
        </p:nvSpPr>
        <p:spPr>
          <a:xfrm>
            <a:off x="10202140" y="2740566"/>
            <a:ext cx="6463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90222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1840B7F-E862-D590-5D64-31FE9E0D82CF}"/>
              </a:ext>
            </a:extLst>
          </p:cNvPr>
          <p:cNvSpPr txBox="1"/>
          <p:nvPr/>
        </p:nvSpPr>
        <p:spPr>
          <a:xfrm>
            <a:off x="2087905" y="12389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613D0-1C47-E934-56A4-3B9731FFD51F}"/>
              </a:ext>
            </a:extLst>
          </p:cNvPr>
          <p:cNvSpPr txBox="1"/>
          <p:nvPr/>
        </p:nvSpPr>
        <p:spPr>
          <a:xfrm>
            <a:off x="1148325" y="2543453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endParaRPr lang="en-US" dirty="0"/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6C9F6CDF-C0AC-9F16-AD6C-6C546296F6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4302629"/>
              </p:ext>
            </p:extLst>
          </p:nvPr>
        </p:nvGraphicFramePr>
        <p:xfrm>
          <a:off x="3237820" y="676173"/>
          <a:ext cx="2361844" cy="2311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61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590461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590461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590461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5802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18590"/>
                  </a:ext>
                </a:extLst>
              </a:tr>
              <a:tr h="5802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575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575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47314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A9D83F-0205-D9A4-33E6-1BE9A780F9CD}"/>
              </a:ext>
            </a:extLst>
          </p:cNvPr>
          <p:cNvCxnSpPr>
            <a:cxnSpLocks/>
          </p:cNvCxnSpPr>
          <p:nvPr/>
        </p:nvCxnSpPr>
        <p:spPr>
          <a:xfrm flipH="1">
            <a:off x="5791896" y="1050018"/>
            <a:ext cx="10494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736E26-19F2-3361-BBDD-2A05EDADE16D}"/>
              </a:ext>
            </a:extLst>
          </p:cNvPr>
          <p:cNvSpPr txBox="1"/>
          <p:nvPr/>
        </p:nvSpPr>
        <p:spPr>
          <a:xfrm>
            <a:off x="5877228" y="643615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Halo line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C262C9-BD80-561F-7CD8-755565074CA9}"/>
              </a:ext>
            </a:extLst>
          </p:cNvPr>
          <p:cNvCxnSpPr>
            <a:cxnSpLocks/>
          </p:cNvCxnSpPr>
          <p:nvPr/>
        </p:nvCxnSpPr>
        <p:spPr>
          <a:xfrm flipH="1">
            <a:off x="5781505" y="2620777"/>
            <a:ext cx="10494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1A2CD89-C962-702C-5BA1-5CBF0A328654}"/>
              </a:ext>
            </a:extLst>
          </p:cNvPr>
          <p:cNvSpPr txBox="1"/>
          <p:nvPr/>
        </p:nvSpPr>
        <p:spPr>
          <a:xfrm>
            <a:off x="5866837" y="2214374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Halo 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DD491-BFA3-EEE4-8FAF-FEE415F384D6}"/>
              </a:ext>
            </a:extLst>
          </p:cNvPr>
          <p:cNvSpPr txBox="1"/>
          <p:nvPr/>
        </p:nvSpPr>
        <p:spPr>
          <a:xfrm>
            <a:off x="2272636" y="0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Worker1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92184EB-1603-ECB2-6487-99D26EEC8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18558"/>
              </p:ext>
            </p:extLst>
          </p:nvPr>
        </p:nvGraphicFramePr>
        <p:xfrm>
          <a:off x="861117" y="944304"/>
          <a:ext cx="72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80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64280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18366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8385E4B-28BA-FF53-26D6-AF791AEC7F9B}"/>
              </a:ext>
            </a:extLst>
          </p:cNvPr>
          <p:cNvSpPr txBox="1"/>
          <p:nvPr/>
        </p:nvSpPr>
        <p:spPr>
          <a:xfrm>
            <a:off x="18695" y="485394"/>
            <a:ext cx="4149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Neighbour</a:t>
            </a:r>
            <a:r>
              <a:rPr lang="en-US" sz="1000" dirty="0"/>
              <a:t> of Cell that need flip in last turn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1BB1A0-465D-4E3D-A63E-707712343927}"/>
              </a:ext>
            </a:extLst>
          </p:cNvPr>
          <p:cNvSpPr txBox="1"/>
          <p:nvPr/>
        </p:nvSpPr>
        <p:spPr>
          <a:xfrm>
            <a:off x="1653288" y="1529217"/>
            <a:ext cx="60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061ED5-5D67-E29D-C31A-556609EF1F8A}"/>
              </a:ext>
            </a:extLst>
          </p:cNvPr>
          <p:cNvSpPr txBox="1"/>
          <p:nvPr/>
        </p:nvSpPr>
        <p:spPr>
          <a:xfrm>
            <a:off x="2447130" y="18569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4BC638-83AD-210C-920D-35B2F9947494}"/>
              </a:ext>
            </a:extLst>
          </p:cNvPr>
          <p:cNvSpPr txBox="1"/>
          <p:nvPr/>
        </p:nvSpPr>
        <p:spPr>
          <a:xfrm>
            <a:off x="2403780" y="3255734"/>
            <a:ext cx="10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Worker2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D35FBA-2BBD-D613-80EE-38766663C62A}"/>
              </a:ext>
            </a:extLst>
          </p:cNvPr>
          <p:cNvSpPr txBox="1"/>
          <p:nvPr/>
        </p:nvSpPr>
        <p:spPr>
          <a:xfrm>
            <a:off x="2374186" y="813095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210D59-3E5F-6953-F064-239489BEE440}"/>
              </a:ext>
            </a:extLst>
          </p:cNvPr>
          <p:cNvSpPr txBox="1"/>
          <p:nvPr/>
        </p:nvSpPr>
        <p:spPr>
          <a:xfrm>
            <a:off x="2382837" y="1405405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DB3783-C41E-35B6-8645-84169CDBF3F8}"/>
              </a:ext>
            </a:extLst>
          </p:cNvPr>
          <p:cNvSpPr txBox="1"/>
          <p:nvPr/>
        </p:nvSpPr>
        <p:spPr>
          <a:xfrm>
            <a:off x="2416378" y="2152819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FC6D98-1A50-7553-7250-67D50F3C14FD}"/>
              </a:ext>
            </a:extLst>
          </p:cNvPr>
          <p:cNvSpPr txBox="1"/>
          <p:nvPr/>
        </p:nvSpPr>
        <p:spPr>
          <a:xfrm>
            <a:off x="2459389" y="2663917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E9E893-5A66-EB8A-DFBF-AE5DE8DF8926}"/>
              </a:ext>
            </a:extLst>
          </p:cNvPr>
          <p:cNvSpPr txBox="1"/>
          <p:nvPr/>
        </p:nvSpPr>
        <p:spPr>
          <a:xfrm>
            <a:off x="2069210" y="45338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C529D0-9BFF-61FB-33E6-1831916EEBC7}"/>
              </a:ext>
            </a:extLst>
          </p:cNvPr>
          <p:cNvSpPr txBox="1"/>
          <p:nvPr/>
        </p:nvSpPr>
        <p:spPr>
          <a:xfrm>
            <a:off x="1129630" y="5838417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endParaRPr lang="en-US" dirty="0"/>
          </a:p>
        </p:txBody>
      </p:sp>
      <p:graphicFrame>
        <p:nvGraphicFramePr>
          <p:cNvPr id="58" name="Content Placeholder 6">
            <a:extLst>
              <a:ext uri="{FF2B5EF4-FFF2-40B4-BE49-F238E27FC236}">
                <a16:creationId xmlns:a16="http://schemas.microsoft.com/office/drawing/2014/main" id="{BC7F3363-3DF2-82E1-B585-3D321E5A69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054680"/>
              </p:ext>
            </p:extLst>
          </p:nvPr>
        </p:nvGraphicFramePr>
        <p:xfrm>
          <a:off x="3219125" y="3971137"/>
          <a:ext cx="2361844" cy="2311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61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590461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590461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590461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5802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818590"/>
                  </a:ext>
                </a:extLst>
              </a:tr>
              <a:tr h="5802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575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5757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47314"/>
                  </a:ext>
                </a:extLst>
              </a:tr>
            </a:tbl>
          </a:graphicData>
        </a:graphic>
      </p:graphicFrame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87224E7-F73A-D9AE-2D37-8C2BC633F7E2}"/>
              </a:ext>
            </a:extLst>
          </p:cNvPr>
          <p:cNvCxnSpPr>
            <a:cxnSpLocks/>
          </p:cNvCxnSpPr>
          <p:nvPr/>
        </p:nvCxnSpPr>
        <p:spPr>
          <a:xfrm flipH="1">
            <a:off x="5773201" y="4344982"/>
            <a:ext cx="10494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86B0915-3E3C-A327-30DB-7B7F7103886C}"/>
              </a:ext>
            </a:extLst>
          </p:cNvPr>
          <p:cNvSpPr txBox="1"/>
          <p:nvPr/>
        </p:nvSpPr>
        <p:spPr>
          <a:xfrm>
            <a:off x="5858533" y="3938579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Halo line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17F7D7-6F15-AEB2-B2CB-FDFE341D925A}"/>
              </a:ext>
            </a:extLst>
          </p:cNvPr>
          <p:cNvCxnSpPr>
            <a:cxnSpLocks/>
          </p:cNvCxnSpPr>
          <p:nvPr/>
        </p:nvCxnSpPr>
        <p:spPr>
          <a:xfrm flipH="1">
            <a:off x="5762810" y="5915741"/>
            <a:ext cx="10494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6D42A78-3CA0-7AD7-4C14-4CF63DC2D29B}"/>
              </a:ext>
            </a:extLst>
          </p:cNvPr>
          <p:cNvSpPr txBox="1"/>
          <p:nvPr/>
        </p:nvSpPr>
        <p:spPr>
          <a:xfrm>
            <a:off x="5848142" y="5509338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Halo line</a:t>
            </a: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D0C2D4FA-5B62-74C2-6457-462DCFE40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51705"/>
              </p:ext>
            </p:extLst>
          </p:nvPr>
        </p:nvGraphicFramePr>
        <p:xfrm>
          <a:off x="842422" y="4239268"/>
          <a:ext cx="728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80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64280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18366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18366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A8765776-5C5E-98BB-ADD0-F7816BCA6C5B}"/>
              </a:ext>
            </a:extLst>
          </p:cNvPr>
          <p:cNvSpPr txBox="1"/>
          <p:nvPr/>
        </p:nvSpPr>
        <p:spPr>
          <a:xfrm>
            <a:off x="0" y="3780358"/>
            <a:ext cx="4149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Neighbour</a:t>
            </a:r>
            <a:r>
              <a:rPr lang="en-US" sz="1000" dirty="0"/>
              <a:t> of Cell that need flip in last turn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E3F989-E301-ABCA-AE56-860D522DDAB3}"/>
              </a:ext>
            </a:extLst>
          </p:cNvPr>
          <p:cNvSpPr txBox="1"/>
          <p:nvPr/>
        </p:nvSpPr>
        <p:spPr>
          <a:xfrm>
            <a:off x="1634593" y="4824181"/>
            <a:ext cx="60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8B33DD-754E-50F5-6381-890AE0C34AE9}"/>
              </a:ext>
            </a:extLst>
          </p:cNvPr>
          <p:cNvSpPr txBox="1"/>
          <p:nvPr/>
        </p:nvSpPr>
        <p:spPr>
          <a:xfrm>
            <a:off x="2428435" y="51518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BB5AEB-A014-4F0B-176C-28C61FA5A791}"/>
              </a:ext>
            </a:extLst>
          </p:cNvPr>
          <p:cNvSpPr txBox="1"/>
          <p:nvPr/>
        </p:nvSpPr>
        <p:spPr>
          <a:xfrm>
            <a:off x="2355491" y="4108059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208486-9A0F-00C3-49E6-6EDE3D14CF97}"/>
              </a:ext>
            </a:extLst>
          </p:cNvPr>
          <p:cNvSpPr txBox="1"/>
          <p:nvPr/>
        </p:nvSpPr>
        <p:spPr>
          <a:xfrm>
            <a:off x="2364142" y="4700369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8E626A-E809-2D78-2963-1349AD8B5433}"/>
              </a:ext>
            </a:extLst>
          </p:cNvPr>
          <p:cNvSpPr txBox="1"/>
          <p:nvPr/>
        </p:nvSpPr>
        <p:spPr>
          <a:xfrm>
            <a:off x="2397683" y="5447783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495664-CCF3-6E08-C5FD-564D6175CE1A}"/>
              </a:ext>
            </a:extLst>
          </p:cNvPr>
          <p:cNvSpPr txBox="1"/>
          <p:nvPr/>
        </p:nvSpPr>
        <p:spPr>
          <a:xfrm>
            <a:off x="2440694" y="5958881"/>
            <a:ext cx="5116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Line 0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7F87A3-6BD8-8225-10CD-F3C75751DF99}"/>
              </a:ext>
            </a:extLst>
          </p:cNvPr>
          <p:cNvCxnSpPr>
            <a:cxnSpLocks/>
          </p:cNvCxnSpPr>
          <p:nvPr/>
        </p:nvCxnSpPr>
        <p:spPr>
          <a:xfrm>
            <a:off x="7746423" y="5017510"/>
            <a:ext cx="1402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993FFD2-70E2-813D-6E87-307536DA40DB}"/>
              </a:ext>
            </a:extLst>
          </p:cNvPr>
          <p:cNvCxnSpPr>
            <a:cxnSpLocks/>
          </p:cNvCxnSpPr>
          <p:nvPr/>
        </p:nvCxnSpPr>
        <p:spPr>
          <a:xfrm>
            <a:off x="7595017" y="1900272"/>
            <a:ext cx="1283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2E39BC0D-CC2E-9671-088F-F07562930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1452"/>
              </p:ext>
            </p:extLst>
          </p:nvPr>
        </p:nvGraphicFramePr>
        <p:xfrm>
          <a:off x="9876398" y="1406258"/>
          <a:ext cx="1004218" cy="1467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109">
                  <a:extLst>
                    <a:ext uri="{9D8B030D-6E8A-4147-A177-3AD203B41FA5}">
                      <a16:colId xmlns:a16="http://schemas.microsoft.com/office/drawing/2014/main" val="1245200530"/>
                    </a:ext>
                  </a:extLst>
                </a:gridCol>
                <a:gridCol w="502109">
                  <a:extLst>
                    <a:ext uri="{9D8B030D-6E8A-4147-A177-3AD203B41FA5}">
                      <a16:colId xmlns:a16="http://schemas.microsoft.com/office/drawing/2014/main" val="318820294"/>
                    </a:ext>
                  </a:extLst>
                </a:gridCol>
              </a:tblGrid>
              <a:tr h="478612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337708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207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37863"/>
                  </a:ext>
                </a:extLst>
              </a:tr>
            </a:tbl>
          </a:graphicData>
        </a:graphic>
      </p:graphicFrame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FAA36090-93DC-249A-BDDF-4073A7663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01145"/>
              </p:ext>
            </p:extLst>
          </p:nvPr>
        </p:nvGraphicFramePr>
        <p:xfrm>
          <a:off x="9896603" y="4262045"/>
          <a:ext cx="984013" cy="1939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904">
                  <a:extLst>
                    <a:ext uri="{9D8B030D-6E8A-4147-A177-3AD203B41FA5}">
                      <a16:colId xmlns:a16="http://schemas.microsoft.com/office/drawing/2014/main" val="1245200530"/>
                    </a:ext>
                  </a:extLst>
                </a:gridCol>
                <a:gridCol w="502109">
                  <a:extLst>
                    <a:ext uri="{9D8B030D-6E8A-4147-A177-3AD203B41FA5}">
                      <a16:colId xmlns:a16="http://schemas.microsoft.com/office/drawing/2014/main" val="318820294"/>
                    </a:ext>
                  </a:extLst>
                </a:gridCol>
              </a:tblGrid>
              <a:tr h="456376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337708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207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85672"/>
                  </a:ext>
                </a:extLst>
              </a:tr>
              <a:tr h="49440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37863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05C5EB2-C389-F924-4124-D7E99B9032BF}"/>
              </a:ext>
            </a:extLst>
          </p:cNvPr>
          <p:cNvSpPr txBox="1"/>
          <p:nvPr/>
        </p:nvSpPr>
        <p:spPr>
          <a:xfrm>
            <a:off x="9149196" y="99854"/>
            <a:ext cx="232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back to Broker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A659B6-0039-138E-BDFC-CF691F7EECDC}"/>
              </a:ext>
            </a:extLst>
          </p:cNvPr>
          <p:cNvSpPr txBox="1"/>
          <p:nvPr/>
        </p:nvSpPr>
        <p:spPr>
          <a:xfrm>
            <a:off x="8951607" y="3360828"/>
            <a:ext cx="30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that need flip in this turn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5DF8751-AF3F-7DA9-D85D-C305331C0499}"/>
              </a:ext>
            </a:extLst>
          </p:cNvPr>
          <p:cNvCxnSpPr>
            <a:cxnSpLocks/>
          </p:cNvCxnSpPr>
          <p:nvPr/>
        </p:nvCxnSpPr>
        <p:spPr>
          <a:xfrm flipV="1">
            <a:off x="10369848" y="2895444"/>
            <a:ext cx="0" cy="54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D2FED55-58C6-2631-CD87-63EF2B890CC7}"/>
              </a:ext>
            </a:extLst>
          </p:cNvPr>
          <p:cNvCxnSpPr>
            <a:cxnSpLocks/>
          </p:cNvCxnSpPr>
          <p:nvPr/>
        </p:nvCxnSpPr>
        <p:spPr>
          <a:xfrm>
            <a:off x="10388609" y="3637047"/>
            <a:ext cx="0" cy="52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ABF11E-8053-9558-3537-6AA54740F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13704"/>
              </p:ext>
            </p:extLst>
          </p:nvPr>
        </p:nvGraphicFramePr>
        <p:xfrm>
          <a:off x="1670530" y="2243517"/>
          <a:ext cx="7821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65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91065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29061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E58FEC-5055-1D77-BB96-54EC09398BB2}"/>
              </a:ext>
            </a:extLst>
          </p:cNvPr>
          <p:cNvCxnSpPr>
            <a:cxnSpLocks/>
          </p:cNvCxnSpPr>
          <p:nvPr/>
        </p:nvCxnSpPr>
        <p:spPr>
          <a:xfrm>
            <a:off x="3699163" y="3207277"/>
            <a:ext cx="3070514" cy="1662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C71111-1A29-7D49-27F6-875F85893DC8}"/>
              </a:ext>
            </a:extLst>
          </p:cNvPr>
          <p:cNvCxnSpPr>
            <a:cxnSpLocks/>
          </p:cNvCxnSpPr>
          <p:nvPr/>
        </p:nvCxnSpPr>
        <p:spPr>
          <a:xfrm flipV="1">
            <a:off x="3699163" y="1428700"/>
            <a:ext cx="2341418" cy="1778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A89F37-7BD6-F22E-820D-62A15BCC2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912779"/>
              </p:ext>
            </p:extLst>
          </p:nvPr>
        </p:nvGraphicFramePr>
        <p:xfrm>
          <a:off x="7574298" y="631200"/>
          <a:ext cx="7821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065">
                  <a:extLst>
                    <a:ext uri="{9D8B030D-6E8A-4147-A177-3AD203B41FA5}">
                      <a16:colId xmlns:a16="http://schemas.microsoft.com/office/drawing/2014/main" val="803947802"/>
                    </a:ext>
                  </a:extLst>
                </a:gridCol>
                <a:gridCol w="391065">
                  <a:extLst>
                    <a:ext uri="{9D8B030D-6E8A-4147-A177-3AD203B41FA5}">
                      <a16:colId xmlns:a16="http://schemas.microsoft.com/office/drawing/2014/main" val="1883705162"/>
                    </a:ext>
                  </a:extLst>
                </a:gridCol>
              </a:tblGrid>
              <a:tr h="17074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76438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630332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975261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941965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977436"/>
                  </a:ext>
                </a:extLst>
              </a:tr>
              <a:tr h="29061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629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E494AE-00B6-1D2C-5B84-7953BFD26525}"/>
              </a:ext>
            </a:extLst>
          </p:cNvPr>
          <p:cNvSpPr txBox="1"/>
          <p:nvPr/>
        </p:nvSpPr>
        <p:spPr>
          <a:xfrm>
            <a:off x="738331" y="1428700"/>
            <a:ext cx="30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 that need flip in this turn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CBDC8-19B5-B316-78EF-53CF3D5E2F6E}"/>
              </a:ext>
            </a:extLst>
          </p:cNvPr>
          <p:cNvSpPr txBox="1"/>
          <p:nvPr/>
        </p:nvSpPr>
        <p:spPr>
          <a:xfrm>
            <a:off x="5738054" y="86490"/>
            <a:ext cx="4454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Neighbour</a:t>
            </a:r>
            <a:r>
              <a:rPr lang="en-US" dirty="0"/>
              <a:t> of Cell that need flip in this turn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2C90DC-4DB6-8195-EC34-96A985A148C6}"/>
              </a:ext>
            </a:extLst>
          </p:cNvPr>
          <p:cNvSpPr txBox="1"/>
          <p:nvPr/>
        </p:nvSpPr>
        <p:spPr>
          <a:xfrm>
            <a:off x="720339" y="271156"/>
            <a:ext cx="830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A5FB48-55E4-836C-811B-1365B291C635}"/>
              </a:ext>
            </a:extLst>
          </p:cNvPr>
          <p:cNvSpPr txBox="1"/>
          <p:nvPr/>
        </p:nvSpPr>
        <p:spPr>
          <a:xfrm>
            <a:off x="8858250" y="1228645"/>
            <a:ext cx="6463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D4F1A-1DB6-A58E-26E3-D7632A14DDCE}"/>
              </a:ext>
            </a:extLst>
          </p:cNvPr>
          <p:cNvSpPr txBox="1"/>
          <p:nvPr/>
        </p:nvSpPr>
        <p:spPr>
          <a:xfrm>
            <a:off x="7373723" y="3229251"/>
            <a:ext cx="1965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to the world</a:t>
            </a:r>
          </a:p>
        </p:txBody>
      </p:sp>
      <p:graphicFrame>
        <p:nvGraphicFramePr>
          <p:cNvPr id="14" name="Content Placeholder 6">
            <a:extLst>
              <a:ext uri="{FF2B5EF4-FFF2-40B4-BE49-F238E27FC236}">
                <a16:creationId xmlns:a16="http://schemas.microsoft.com/office/drawing/2014/main" id="{F7A546F8-3965-481E-4DD8-9FDC4201F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929364"/>
              </p:ext>
            </p:extLst>
          </p:nvPr>
        </p:nvGraphicFramePr>
        <p:xfrm>
          <a:off x="7017167" y="3814608"/>
          <a:ext cx="3175504" cy="2956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876">
                  <a:extLst>
                    <a:ext uri="{9D8B030D-6E8A-4147-A177-3AD203B41FA5}">
                      <a16:colId xmlns:a16="http://schemas.microsoft.com/office/drawing/2014/main" val="797166993"/>
                    </a:ext>
                  </a:extLst>
                </a:gridCol>
                <a:gridCol w="793876">
                  <a:extLst>
                    <a:ext uri="{9D8B030D-6E8A-4147-A177-3AD203B41FA5}">
                      <a16:colId xmlns:a16="http://schemas.microsoft.com/office/drawing/2014/main" val="2684237004"/>
                    </a:ext>
                  </a:extLst>
                </a:gridCol>
                <a:gridCol w="793876">
                  <a:extLst>
                    <a:ext uri="{9D8B030D-6E8A-4147-A177-3AD203B41FA5}">
                      <a16:colId xmlns:a16="http://schemas.microsoft.com/office/drawing/2014/main" val="3824380416"/>
                    </a:ext>
                  </a:extLst>
                </a:gridCol>
                <a:gridCol w="793876">
                  <a:extLst>
                    <a:ext uri="{9D8B030D-6E8A-4147-A177-3AD203B41FA5}">
                      <a16:colId xmlns:a16="http://schemas.microsoft.com/office/drawing/2014/main" val="3936363326"/>
                    </a:ext>
                  </a:extLst>
                </a:gridCol>
              </a:tblGrid>
              <a:tr h="7380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46507"/>
                  </a:ext>
                </a:extLst>
              </a:tr>
              <a:tr h="7426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811960"/>
                  </a:ext>
                </a:extLst>
              </a:tr>
              <a:tr h="7380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22481"/>
                  </a:ext>
                </a:extLst>
              </a:tr>
              <a:tr h="7380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48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92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6CC4-BB11-02CA-FCB8-71F35ADA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1ADF-B9E8-E05B-B984-FDC51A614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1.High Fault Tolerance</a:t>
            </a:r>
          </a:p>
          <a:p>
            <a:r>
              <a:rPr lang="en-US" b="1" dirty="0"/>
              <a:t>Dynamic allocation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2.Highly reducing</a:t>
            </a:r>
            <a:r>
              <a:rPr lang="en-US" altLang="zh-CN" b="1" dirty="0"/>
              <a:t> communication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3.P</a:t>
            </a:r>
            <a:r>
              <a:rPr lang="en-US" altLang="zh-CN" b="1" dirty="0"/>
              <a:t>rivacy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63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96B9-ED76-6407-31D0-65D3FA61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35C2C-B463-0F26-6233-072FBA362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850127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A993-BCD0-7F58-68D0-1E8A322E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Highly reducing</a:t>
            </a:r>
            <a:r>
              <a:rPr lang="en-US" altLang="zh-CN" sz="4000" b="1" dirty="0"/>
              <a:t> communication</a:t>
            </a:r>
            <a:br>
              <a:rPr lang="en-US" altLang="zh-CN" sz="4000" b="1" dirty="0"/>
            </a:b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2087-7A8C-98B5-AB10-F7D34AAFB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Full World Transfer Only Once Between worker and broker</a:t>
            </a:r>
            <a:endParaRPr lang="en-US" dirty="0"/>
          </a:p>
          <a:p>
            <a:r>
              <a:rPr lang="en-US" b="1" dirty="0"/>
              <a:t>Persistent TCP Stream</a:t>
            </a:r>
            <a:endParaRPr lang="en-US" dirty="0"/>
          </a:p>
          <a:p>
            <a:r>
              <a:rPr lang="en-US" b="1" dirty="0"/>
              <a:t>Scalable Worker Pool</a:t>
            </a:r>
            <a:endParaRPr lang="en-US" dirty="0"/>
          </a:p>
          <a:p>
            <a:r>
              <a:rPr lang="en-US" b="1" dirty="0"/>
              <a:t>One connection between Broker and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66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1ED7-8D02-6389-8C6A-83AEDE6B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A72D0-9411-8D1A-2DE3-B023D586E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uncoupling</a:t>
            </a:r>
          </a:p>
          <a:p>
            <a:r>
              <a:rPr lang="en-US" dirty="0"/>
              <a:t>Local client only need keep track of one address while not need to know other server</a:t>
            </a:r>
          </a:p>
          <a:p>
            <a:r>
              <a:rPr lang="en-US" dirty="0"/>
              <a:t>Broker don’t know any address until some node dial in</a:t>
            </a:r>
          </a:p>
          <a:p>
            <a:r>
              <a:rPr lang="en-US" dirty="0"/>
              <a:t>Server don’t know other server address, or local client address</a:t>
            </a:r>
          </a:p>
          <a:p>
            <a:r>
              <a:rPr lang="en-US" dirty="0"/>
              <a:t>Server address is not expose by any node except broker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094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A4D56670-B001-DFA3-597A-D1DD064B9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21" y="654050"/>
            <a:ext cx="10064529" cy="5909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80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DEB675-29C7-4E57-8391-300278EA3141}">
  <we:reference id="wa200005566" version="3.0.0.3" store="en-GB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3008</TotalTime>
  <Words>701</Words>
  <Application>Microsoft Office PowerPoint</Application>
  <PresentationFormat>Widescreen</PresentationFormat>
  <Paragraphs>271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Office Theme</vt:lpstr>
      <vt:lpstr>CSA VIVA</vt:lpstr>
      <vt:lpstr>Parallel implementation</vt:lpstr>
      <vt:lpstr>PowerPoint Presentation</vt:lpstr>
      <vt:lpstr>PowerPoint Presentation</vt:lpstr>
      <vt:lpstr>Inside Distributor</vt:lpstr>
      <vt:lpstr>PowerPoint Presentation</vt:lpstr>
      <vt:lpstr>Detail implementation (4 workers) </vt:lpstr>
      <vt:lpstr>PowerPoint Presentation</vt:lpstr>
      <vt:lpstr>Graph and analyze</vt:lpstr>
      <vt:lpstr>Process of develop</vt:lpstr>
      <vt:lpstr>PowerPoint Presentation</vt:lpstr>
      <vt:lpstr>PowerPoint Presentation</vt:lpstr>
      <vt:lpstr>Distributed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Special design</vt:lpstr>
      <vt:lpstr>High Fault Tolerance</vt:lpstr>
      <vt:lpstr>Highly reducing communication </vt:lpstr>
      <vt:lpstr>Privacy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景翔 张</dc:creator>
  <cp:lastModifiedBy>景翔 张</cp:lastModifiedBy>
  <cp:revision>31</cp:revision>
  <dcterms:created xsi:type="dcterms:W3CDTF">2025-11-16T18:21:09Z</dcterms:created>
  <dcterms:modified xsi:type="dcterms:W3CDTF">2025-11-26T10:48:07Z</dcterms:modified>
</cp:coreProperties>
</file>